
<file path=[Content_Types].xml><?xml version="1.0" encoding="utf-8"?>
<Types xmlns="http://schemas.openxmlformats.org/package/2006/content-types">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52"/>
    <p:restoredTop sz="94610"/>
  </p:normalViewPr>
  <p:slideViewPr>
    <p:cSldViewPr snapToGrid="0" snapToObjects="1">
      <p:cViewPr varScale="1">
        <p:scale>
          <a:sx n="149" d="100"/>
          <a:sy n="149" d="100"/>
        </p:scale>
        <p:origin x="192"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5168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Prezint proiectul de planificare a drumului unui robot mobil folosind descompunerea celulară aproximativă. Am implementat două descompuneri, grila uniformă și metoda arborelui (quadtree), patru algoritmi de căutare și o aplicație web în care harta se poate edita și drumul se recalculează imediat.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Toți cei patru algoritmi lucrează pe același graf, indiferent de descompunere. BFS folosește o coadă simplă și explorează strat cu strat, deci găsește drumul cu cele mai puține celule, dar nu ține cont de distanțe. Dijkstra, A* și Greedy au în cod același schelet, o coadă de priorități; diferă doar prioritatea. Dijkstra folosește costul de la start, g, și găsește drumul cel mai scurt explorând uniform. A* adaugă euristica h, distanța în linie dreaptă până la țintă; pentru că euristica nu supraestimează, drumul rămâne optim, dar sunt vizitate mult mai puține celule. Greedy folosește doar euristica: e foarte rapid, dar drumul nu e garantat optim. După căutare, drumul trece prin centrele celulelor, deci are multe viraje; netezirea prin linie de vedere îl scurtează și elimină virajele inutile.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Aplicația are trei părți. Nucleul de calcul, în Python, conține geometria, cele două descompuneri, algoritmii de căutare și netezirea; logica e separată de server, deci se poate testa și refolosi. Serverul FastAPI primește harta în format JSON și întoarce celulele, drumul și ordinea vizitării. Interfața web desenează harta pe canvas, permite desenarea și mutarea obstacolelor, a startului și a țintei, și recalculează drumul imediat. Are și animații pentru căutare și pentru împărțirea quadtree-ului, plus un tabel care compară algoritmii.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Descompunerea omogenă împarte harta într-o grilă de pătrate de aceeași latură. Pentru fiecare celulă verific dacă e complet liberă, complet în interiorul unui obstacol sau mixtă. Celulele mixte sunt considerate ocupate, așa că robotul păstrează automat o distanță față de obstacole. Graful se formează din celulele libere, cu vecinătate de 4 sau 8; la 8 vecini, o mutare pe diagonală e permisă doar dacă nu taie colțul unui obstacol. Dezavantajul: precizia depinde de latură, iar o latură mică produce foarte multe celule, inclusiv în zonele goale.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video rulez aceeași hartă întâi cu Dijkstra, apoi cu A*. La Dijkstra, celulele vizitate se extind uniform în jurul startului, ca un cerc; la A*, frontul de căutare înaintează spre țintă. Pe harta demo, cu latura de 1 cm, sunt 9 600 de celule: Dijkstra vizitează 7 080, A* doar 4 732, deci cu o treime mai puține. Drumul găsit are aproximativ 180 cm la ambii, pentru că A* rămâne optim. La final apare drumul prin centrele celulelor, în negru, și drumul netezit, cu portocaliu, care are aproape jumătate din viraje.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Metoda arborelui pornește de la toată harta și împarte recursiv doar celulele mixte, fiecare în patru sferturi egale. Celulele complet libere sau complet ocupate nu se mai împart. Rezultă celule mari în zonele goale și celule mici doar lângă marginile obstacolelor. Pe aceeași hartă de exemplu, quadtree-ul are 133 de celule, față de 256 la o grilă de aceeași finețe. Vecinii au acum dimensiuni diferite, așa că îi găsesc căutând în arbore frunzele care ating celula.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Animația arată construcția arborelui nivel cu nivel: harta pornește ca o singură celulă, iar celulele mixte, cu galben, se împart în patru până ajung la latura minimă. Celula împărțită în acel moment e conturată cu portocaliu. Pe harta demo rezultă 1 210 celule, de opt ori mai puține decât grila de 1 cm, iar căutarea A* durează sub o milisecundă. Prețul: drumul brut trece prin centrele unor celule mari și e mai lung, dar după netezire diferența față de grilă scade la aproximativ 3 cm.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Comparația rulează toți cei patru algoritmi, cu 4 și cu 8 vecini, pe aceeași hartă. A* dă drumul cel mai scurt vizitând mult mai puține celule decât Dijkstra și BFS, deci e alegerea potrivită în majoritatea cazurilor. Greedy e cel mai rapid, dar drumul poate fi cu peste 30 de cm mai lung. Quadtree-ul reduce mult numărul de celule și timpul de căutare, cu prețul unui drum brut mai lung, pe care netezirea îl corectează în mare parte. Pentru un robot real, netezirea e importantă, pentru că fiecare viraj adaugă erori de poziționare.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450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2100"/>
            <a:ext cx="10566400" cy="4483100"/>
          </a:xfrm>
          <a:prstGeom prst="rect">
            <a:avLst/>
          </a:prstGeom>
          <a:noFill/>
          <a:ln/>
        </p:spPr>
        <p:txBody>
          <a:bodyPr wrap="square" lIns="0" tIns="0" rIns="0" bIns="0" rtlCol="0" anchor="t"/>
          <a:lstStyle>
            <a:lvl1pPr marL="0" indent="0" algn="l">
              <a:lnSpc>
                <a:spcPct val="140000"/>
              </a:lnSpc>
              <a:buNone/>
              <a:defRPr lang="en-US" sz="1600" dirty="0">
                <a:solidFill>
                  <a:srgbClr val="4A5568"/>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450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2100"/>
            <a:ext cx="10566400" cy="4483100"/>
          </a:xfrm>
          <a:prstGeom prst="rect">
            <a:avLst/>
          </a:prstGeom>
          <a:noFill/>
          <a:ln/>
        </p:spPr>
        <p:txBody>
          <a:bodyPr wrap="square" lIns="0" tIns="0" rIns="0" bIns="0" rtlCol="0" anchor="t"/>
          <a:lstStyle>
            <a:lvl1pPr marL="0" indent="0" algn="l">
              <a:lnSpc>
                <a:spcPct val="140000"/>
              </a:lnSpc>
              <a:buNone/>
              <a:defRPr lang="en-US" sz="1600" dirty="0">
                <a:solidFill>
                  <a:srgbClr val="4A5568"/>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ov"/><Relationship Id="rId1" Type="http://schemas.microsoft.com/office/2007/relationships/media" Target="../media/media1.mov"/><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ov"/><Relationship Id="rId1" Type="http://schemas.microsoft.com/office/2007/relationships/media" Target="../media/media2.mov"/><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46250"/>
            <a:ext cx="5546344" cy="23495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8C4B"/>
                </a:solidFill>
                <a:latin typeface="IBM Plex Sans" pitchFamily="34" charset="0"/>
                <a:ea typeface="IBM Plex Sans" pitchFamily="34" charset="-122"/>
                <a:cs typeface="IBM Plex Sans" pitchFamily="34" charset="-120"/>
              </a:rPr>
              <a:t>ELEMENTE DE ROBOTICĂ · PROIECT</a:t>
            </a:r>
            <a:endParaRPr lang="en-US" sz="1200" dirty="0"/>
          </a:p>
        </p:txBody>
      </p:sp>
      <p:sp>
        <p:nvSpPr>
          <p:cNvPr id="3" name="Text 1"/>
          <p:cNvSpPr>
            <a:spLocks noGrp="1"/>
          </p:cNvSpPr>
          <p:nvPr>
            <p:ph type="title"/>
          </p:nvPr>
        </p:nvSpPr>
        <p:spPr>
          <a:xfrm>
            <a:off x="812800" y="2159000"/>
            <a:ext cx="5546344" cy="129540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7F6F2"/>
                </a:solidFill>
                <a:latin typeface="Space Grotesk" pitchFamily="34" charset="0"/>
                <a:ea typeface="Space Grotesk" pitchFamily="34" charset="-122"/>
                <a:cs typeface="Space Grotesk" pitchFamily="34" charset="-120"/>
              </a:rPr>
              <a:t>Planificarea drumului</a:t>
            </a:r>
            <a:endParaRPr lang="en-US" sz="4800" dirty="0"/>
          </a:p>
        </p:txBody>
      </p:sp>
      <p:sp>
        <p:nvSpPr>
          <p:cNvPr id="4" name="Text 2"/>
          <p:cNvSpPr/>
          <p:nvPr/>
        </p:nvSpPr>
        <p:spPr>
          <a:xfrm>
            <a:off x="812800" y="3632200"/>
            <a:ext cx="5546344"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D5DCE8"/>
                </a:solidFill>
                <a:latin typeface="IBM Plex Sans" pitchFamily="34" charset="0"/>
                <a:ea typeface="IBM Plex Sans" pitchFamily="34" charset="-122"/>
                <a:cs typeface="IBM Plex Sans" pitchFamily="34" charset="-120"/>
              </a:rPr>
              <a:t>prin descompunere celulară aproximativă</a:t>
            </a:r>
            <a:endParaRPr lang="en-US" sz="2000" dirty="0"/>
          </a:p>
        </p:txBody>
      </p:sp>
      <p:sp>
        <p:nvSpPr>
          <p:cNvPr id="5" name="Text 3"/>
          <p:cNvSpPr/>
          <p:nvPr/>
        </p:nvSpPr>
        <p:spPr>
          <a:xfrm>
            <a:off x="812800" y="4165600"/>
            <a:ext cx="554634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AEB9CC"/>
                </a:solidFill>
                <a:latin typeface="IBM Plex Sans" pitchFamily="34" charset="0"/>
                <a:ea typeface="IBM Plex Sans" pitchFamily="34" charset="-122"/>
                <a:cs typeface="IBM Plex Sans" pitchFamily="34" charset="-120"/>
              </a:rPr>
              <a:t>Grilă uniformă · Metoda arborelui (quadtree)</a:t>
            </a:r>
            <a:endParaRPr lang="en-US" sz="1500" dirty="0"/>
          </a:p>
          <a:p>
            <a:pPr marL="0" indent="0" algn="l">
              <a:lnSpc>
                <a:spcPts val="2100"/>
              </a:lnSpc>
              <a:buNone/>
            </a:pPr>
            <a:r>
              <a:rPr lang="en-US" sz="1500" dirty="0">
                <a:solidFill>
                  <a:srgbClr val="AEB9CC"/>
                </a:solidFill>
                <a:latin typeface="IBM Plex Sans" pitchFamily="34" charset="0"/>
                <a:ea typeface="IBM Plex Sans" pitchFamily="34" charset="-122"/>
                <a:cs typeface="IBM Plex Sans" pitchFamily="34" charset="-120"/>
              </a:rPr>
              <a:t>BFS · Dijkstra · A* · Greedy</a:t>
            </a:r>
            <a:endParaRPr lang="en-US" sz="1500" dirty="0"/>
          </a:p>
        </p:txBody>
      </p:sp>
      <p:sp>
        <p:nvSpPr>
          <p:cNvPr id="6" name="Text 4"/>
          <p:cNvSpPr/>
          <p:nvPr/>
        </p:nvSpPr>
        <p:spPr>
          <a:xfrm>
            <a:off x="812800" y="4902200"/>
            <a:ext cx="5546344"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EB9CC"/>
                </a:solidFill>
                <a:latin typeface="IBM Plex Sans" pitchFamily="34" charset="0"/>
                <a:ea typeface="IBM Plex Sans" pitchFamily="34" charset="-122"/>
                <a:cs typeface="IBM Plex Sans" pitchFamily="34" charset="-120"/>
              </a:rPr>
              <a:t>[Nume Prenume] · [Grupa]</a:t>
            </a:r>
            <a:endParaRPr lang="en-US" sz="1200" dirty="0"/>
          </a:p>
        </p:txBody>
      </p:sp>
      <p:sp>
        <p:nvSpPr>
          <p:cNvPr id="7" name="Shape 5"/>
          <p:cNvSpPr/>
          <p:nvPr/>
        </p:nvSpPr>
        <p:spPr>
          <a:xfrm>
            <a:off x="6816725" y="1914525"/>
            <a:ext cx="4552950" cy="3028950"/>
          </a:xfrm>
          <a:prstGeom prst="roundRect">
            <a:avLst>
              <a:gd name="adj" fmla="val 3040"/>
            </a:avLst>
          </a:prstGeom>
          <a:solidFill>
            <a:srgbClr val="1D2D50"/>
          </a:solidFill>
          <a:ln w="19050">
            <a:solidFill>
              <a:srgbClr val="5B6B8C"/>
            </a:solidFill>
            <a:prstDash val="dash"/>
          </a:ln>
        </p:spPr>
        <p:txBody>
          <a:bodyPr/>
          <a:lstStyle/>
          <a:p>
            <a:endParaRPr lang="en-RO"/>
          </a:p>
        </p:txBody>
      </p:sp>
      <p:pic>
        <p:nvPicPr>
          <p:cNvPr id="8" name="Image 0" descr="Globe"/>
          <p:cNvPicPr>
            <a:picLocks noChangeAspect="1"/>
          </p:cNvPicPr>
          <p:nvPr/>
        </p:nvPicPr>
        <p:blipFill>
          <a:blip r:embed="rId3"/>
          <a:srcRect/>
          <a:stretch/>
        </p:blipFill>
        <p:spPr>
          <a:xfrm>
            <a:off x="8890000" y="3051175"/>
            <a:ext cx="406400" cy="406400"/>
          </a:xfrm>
          <a:prstGeom prst="rect">
            <a:avLst/>
          </a:prstGeom>
        </p:spPr>
      </p:pic>
      <p:sp>
        <p:nvSpPr>
          <p:cNvPr id="9" name="Text 6"/>
          <p:cNvSpPr/>
          <p:nvPr/>
        </p:nvSpPr>
        <p:spPr>
          <a:xfrm>
            <a:off x="8023314" y="3559175"/>
            <a:ext cx="2139672" cy="27305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AEB9CC"/>
                </a:solidFill>
                <a:latin typeface="IBM Plex Sans" pitchFamily="34" charset="0"/>
                <a:ea typeface="IBM Plex Sans" pitchFamily="34" charset="-122"/>
                <a:cs typeface="IBM Plex Sans" pitchFamily="34" charset="-120"/>
              </a:rPr>
              <a:t>Loc pentru poză: harta</a:t>
            </a:r>
            <a:endParaRPr lang="en-US" sz="1400" dirty="0"/>
          </a:p>
        </p:txBody>
      </p:sp>
      <p:pic>
        <p:nvPicPr>
          <p:cNvPr id="10" name="Picture 9">
            <a:extLst>
              <a:ext uri="{FF2B5EF4-FFF2-40B4-BE49-F238E27FC236}">
                <a16:creationId xmlns:a16="http://schemas.microsoft.com/office/drawing/2014/main" id="{51AE00E7-45C8-54A8-21C6-C1D525244B4D}"/>
              </a:ext>
            </a:extLst>
          </p:cNvPr>
          <p:cNvPicPr>
            <a:picLocks noChangeAspect="1"/>
          </p:cNvPicPr>
          <p:nvPr/>
        </p:nvPicPr>
        <p:blipFill>
          <a:blip r:embed="rId4"/>
          <a:stretch>
            <a:fillRect/>
          </a:stretch>
        </p:blipFill>
        <p:spPr>
          <a:xfrm>
            <a:off x="6359144" y="1746250"/>
            <a:ext cx="5536452" cy="369789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Algoritmii de căutare</a:t>
            </a:r>
            <a:endParaRPr lang="en-US" sz="3200" dirty="0"/>
          </a:p>
        </p:txBody>
      </p:sp>
      <p:sp>
        <p:nvSpPr>
          <p:cNvPr id="3" name="Text 1"/>
          <p:cNvSpPr/>
          <p:nvPr/>
        </p:nvSpPr>
        <p:spPr>
          <a:xfrm>
            <a:off x="812800" y="1333500"/>
            <a:ext cx="10883392" cy="27305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Același graf: noduri = celule libere, muchii = celule vecine, cost = distanța dintre centre.</a:t>
            </a:r>
            <a:endParaRPr lang="en-US" sz="1400" dirty="0"/>
          </a:p>
        </p:txBody>
      </p:sp>
      <p:sp>
        <p:nvSpPr>
          <p:cNvPr id="4" name="Shape 2"/>
          <p:cNvSpPr/>
          <p:nvPr/>
        </p:nvSpPr>
        <p:spPr>
          <a:xfrm>
            <a:off x="815975" y="1812925"/>
            <a:ext cx="5200650" cy="1174750"/>
          </a:xfrm>
          <a:prstGeom prst="roundRect">
            <a:avLst>
              <a:gd name="adj" fmla="val 8378"/>
            </a:avLst>
          </a:prstGeom>
          <a:solidFill>
            <a:srgbClr val="FFFFFF"/>
          </a:solidFill>
          <a:ln w="6350">
            <a:solidFill>
              <a:srgbClr val="DEDBD2"/>
            </a:solidFill>
            <a:prstDash val="solid"/>
          </a:ln>
        </p:spPr>
        <p:txBody>
          <a:bodyPr/>
          <a:lstStyle/>
          <a:p>
            <a:endParaRPr lang="en-RO"/>
          </a:p>
        </p:txBody>
      </p:sp>
      <p:sp>
        <p:nvSpPr>
          <p:cNvPr id="5" name="Text 3"/>
          <p:cNvSpPr/>
          <p:nvPr/>
        </p:nvSpPr>
        <p:spPr>
          <a:xfrm>
            <a:off x="1047750" y="1993900"/>
            <a:ext cx="54995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BFS</a:t>
            </a:r>
            <a:endParaRPr lang="en-US" sz="2000" dirty="0"/>
          </a:p>
        </p:txBody>
      </p:sp>
      <p:sp>
        <p:nvSpPr>
          <p:cNvPr id="6" name="Text 4"/>
          <p:cNvSpPr/>
          <p:nvPr/>
        </p:nvSpPr>
        <p:spPr>
          <a:xfrm>
            <a:off x="1633041" y="2041525"/>
            <a:ext cx="222337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IBM Plex Sans" pitchFamily="34" charset="0"/>
                <a:ea typeface="IBM Plex Sans" pitchFamily="34" charset="-122"/>
                <a:cs typeface="IBM Plex Sans" pitchFamily="34" charset="-120"/>
              </a:rPr>
              <a:t>Optim doar în nr. de celule</a:t>
            </a:r>
            <a:endParaRPr lang="en-US" sz="1200" dirty="0"/>
          </a:p>
        </p:txBody>
      </p:sp>
      <p:sp>
        <p:nvSpPr>
          <p:cNvPr id="7" name="Text 5"/>
          <p:cNvSpPr/>
          <p:nvPr/>
        </p:nvSpPr>
        <p:spPr>
          <a:xfrm>
            <a:off x="1047750" y="2374900"/>
            <a:ext cx="4879213"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Folosește o coadă FIFO: scoate primul nod și adaugă la final vecinii nevizitați. Explorează strat cu strat de la start, până ajunge la țintă.</a:t>
            </a:r>
            <a:endParaRPr lang="en-US" sz="1200" dirty="0"/>
          </a:p>
        </p:txBody>
      </p:sp>
      <p:sp>
        <p:nvSpPr>
          <p:cNvPr id="8" name="Shape 6"/>
          <p:cNvSpPr/>
          <p:nvPr/>
        </p:nvSpPr>
        <p:spPr>
          <a:xfrm>
            <a:off x="6178550" y="1816100"/>
            <a:ext cx="5194300" cy="1168400"/>
          </a:xfrm>
          <a:prstGeom prst="roundRect">
            <a:avLst>
              <a:gd name="adj" fmla="val 8152"/>
            </a:avLst>
          </a:prstGeom>
          <a:solidFill>
            <a:srgbClr val="FFFFFF"/>
          </a:solidFill>
          <a:ln w="12700">
            <a:solidFill>
              <a:srgbClr val="2F6FB5"/>
            </a:solidFill>
            <a:prstDash val="solid"/>
          </a:ln>
        </p:spPr>
        <p:txBody>
          <a:bodyPr/>
          <a:lstStyle/>
          <a:p>
            <a:endParaRPr lang="en-RO"/>
          </a:p>
        </p:txBody>
      </p:sp>
      <p:sp>
        <p:nvSpPr>
          <p:cNvPr id="9" name="Text 7"/>
          <p:cNvSpPr/>
          <p:nvPr/>
        </p:nvSpPr>
        <p:spPr>
          <a:xfrm>
            <a:off x="6413500" y="2000250"/>
            <a:ext cx="106223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Dijkstra</a:t>
            </a:r>
            <a:endParaRPr lang="en-US" sz="2000" dirty="0"/>
          </a:p>
        </p:txBody>
      </p:sp>
      <p:sp>
        <p:nvSpPr>
          <p:cNvPr id="10" name="Text 8"/>
          <p:cNvSpPr/>
          <p:nvPr/>
        </p:nvSpPr>
        <p:spPr>
          <a:xfrm>
            <a:off x="7475736" y="2047875"/>
            <a:ext cx="1003578"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6F43"/>
                </a:solidFill>
                <a:latin typeface="IBM Plex Sans" pitchFamily="34" charset="0"/>
                <a:ea typeface="IBM Plex Sans" pitchFamily="34" charset="-122"/>
                <a:cs typeface="IBM Plex Sans" pitchFamily="34" charset="-120"/>
              </a:rPr>
              <a:t>Drum optim</a:t>
            </a:r>
            <a:endParaRPr lang="en-US" sz="1200" dirty="0"/>
          </a:p>
        </p:txBody>
      </p:sp>
      <p:sp>
        <p:nvSpPr>
          <p:cNvPr id="11" name="Text 9"/>
          <p:cNvSpPr/>
          <p:nvPr/>
        </p:nvSpPr>
        <p:spPr>
          <a:xfrm>
            <a:off x="6413500" y="2381250"/>
            <a:ext cx="4866132"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Coadă de priorități după g(n), costul de la start. Extinde nodul cu g minim și actualizează vecinii la care ajunge mai ieftin prin el.</a:t>
            </a:r>
            <a:endParaRPr lang="en-US" sz="1200" dirty="0"/>
          </a:p>
        </p:txBody>
      </p:sp>
      <p:sp>
        <p:nvSpPr>
          <p:cNvPr id="12" name="Shape 10"/>
          <p:cNvSpPr/>
          <p:nvPr/>
        </p:nvSpPr>
        <p:spPr>
          <a:xfrm>
            <a:off x="819150" y="3149600"/>
            <a:ext cx="5194300" cy="1168400"/>
          </a:xfrm>
          <a:prstGeom prst="roundRect">
            <a:avLst>
              <a:gd name="adj" fmla="val 8152"/>
            </a:avLst>
          </a:prstGeom>
          <a:solidFill>
            <a:srgbClr val="FFFFFF"/>
          </a:solidFill>
          <a:ln w="12700">
            <a:solidFill>
              <a:srgbClr val="2F6FB5"/>
            </a:solidFill>
            <a:prstDash val="solid"/>
          </a:ln>
        </p:spPr>
        <p:txBody>
          <a:bodyPr/>
          <a:lstStyle/>
          <a:p>
            <a:endParaRPr lang="en-RO"/>
          </a:p>
        </p:txBody>
      </p:sp>
      <p:sp>
        <p:nvSpPr>
          <p:cNvPr id="13" name="Text 11"/>
          <p:cNvSpPr/>
          <p:nvPr/>
        </p:nvSpPr>
        <p:spPr>
          <a:xfrm>
            <a:off x="1054100" y="3333750"/>
            <a:ext cx="35790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A*</a:t>
            </a:r>
            <a:endParaRPr lang="en-US" sz="2000" dirty="0"/>
          </a:p>
        </p:txBody>
      </p:sp>
      <p:sp>
        <p:nvSpPr>
          <p:cNvPr id="14" name="Text 12"/>
          <p:cNvSpPr/>
          <p:nvPr/>
        </p:nvSpPr>
        <p:spPr>
          <a:xfrm>
            <a:off x="1479352" y="3381375"/>
            <a:ext cx="2597825"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6F43"/>
                </a:solidFill>
                <a:latin typeface="IBM Plex Sans" pitchFamily="34" charset="0"/>
                <a:ea typeface="IBM Plex Sans" pitchFamily="34" charset="-122"/>
                <a:cs typeface="IBM Plex Sans" pitchFamily="34" charset="-120"/>
              </a:rPr>
              <a:t>Drum optim, mai puține noduri</a:t>
            </a:r>
            <a:endParaRPr lang="en-US" sz="1200" dirty="0"/>
          </a:p>
        </p:txBody>
      </p:sp>
      <p:sp>
        <p:nvSpPr>
          <p:cNvPr id="15" name="Text 13"/>
          <p:cNvSpPr/>
          <p:nvPr/>
        </p:nvSpPr>
        <p:spPr>
          <a:xfrm>
            <a:off x="1054100" y="3714750"/>
            <a:ext cx="4866132"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Ca Dijkstra, dar prioritatea e f(n) = g(n) + h(n), cu h = distanța în linie dreaptă până la țintă. Caută întâi în direcția țintei.</a:t>
            </a:r>
            <a:endParaRPr lang="en-US" sz="1200" dirty="0"/>
          </a:p>
        </p:txBody>
      </p:sp>
      <p:sp>
        <p:nvSpPr>
          <p:cNvPr id="16" name="Shape 14"/>
          <p:cNvSpPr/>
          <p:nvPr/>
        </p:nvSpPr>
        <p:spPr>
          <a:xfrm>
            <a:off x="6175375" y="3146425"/>
            <a:ext cx="5200650" cy="1174750"/>
          </a:xfrm>
          <a:prstGeom prst="roundRect">
            <a:avLst>
              <a:gd name="adj" fmla="val 8378"/>
            </a:avLst>
          </a:prstGeom>
          <a:solidFill>
            <a:srgbClr val="FFFFFF"/>
          </a:solidFill>
          <a:ln w="6350">
            <a:solidFill>
              <a:srgbClr val="DEDBD2"/>
            </a:solidFill>
            <a:prstDash val="solid"/>
          </a:ln>
        </p:spPr>
        <p:txBody>
          <a:bodyPr/>
          <a:lstStyle/>
          <a:p>
            <a:endParaRPr lang="en-RO"/>
          </a:p>
        </p:txBody>
      </p:sp>
      <p:sp>
        <p:nvSpPr>
          <p:cNvPr id="17" name="Text 15"/>
          <p:cNvSpPr/>
          <p:nvPr/>
        </p:nvSpPr>
        <p:spPr>
          <a:xfrm>
            <a:off x="6407150" y="3327400"/>
            <a:ext cx="100280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Greedy</a:t>
            </a:r>
            <a:endParaRPr lang="en-US" sz="2000" dirty="0"/>
          </a:p>
        </p:txBody>
      </p:sp>
      <p:sp>
        <p:nvSpPr>
          <p:cNvPr id="18" name="Text 16"/>
          <p:cNvSpPr/>
          <p:nvPr/>
        </p:nvSpPr>
        <p:spPr>
          <a:xfrm>
            <a:off x="7409954" y="3375025"/>
            <a:ext cx="16184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C2410C"/>
                </a:solidFill>
                <a:latin typeface="IBM Plex Sans" pitchFamily="34" charset="0"/>
                <a:ea typeface="IBM Plex Sans" pitchFamily="34" charset="-122"/>
                <a:cs typeface="IBM Plex Sans" pitchFamily="34" charset="-120"/>
              </a:rPr>
              <a:t>Rapid, dar neoptim</a:t>
            </a:r>
            <a:endParaRPr lang="en-US" sz="1200" dirty="0"/>
          </a:p>
        </p:txBody>
      </p:sp>
      <p:sp>
        <p:nvSpPr>
          <p:cNvPr id="19" name="Text 17"/>
          <p:cNvSpPr/>
          <p:nvPr/>
        </p:nvSpPr>
        <p:spPr>
          <a:xfrm>
            <a:off x="6407150" y="3708400"/>
            <a:ext cx="4879213"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Coadă de priorități doar după h(n): extinde mereu nodul care pare cel mai aproape de țintă, fără să țină cont de drumul parcurs.</a:t>
            </a:r>
            <a:endParaRPr lang="en-US" sz="1200" dirty="0"/>
          </a:p>
        </p:txBody>
      </p:sp>
      <p:sp>
        <p:nvSpPr>
          <p:cNvPr id="20" name="Shape 18"/>
          <p:cNvSpPr/>
          <p:nvPr/>
        </p:nvSpPr>
        <p:spPr>
          <a:xfrm>
            <a:off x="812800" y="4552950"/>
            <a:ext cx="10566400" cy="762000"/>
          </a:xfrm>
          <a:prstGeom prst="roundRect">
            <a:avLst>
              <a:gd name="adj" fmla="val 13333"/>
            </a:avLst>
          </a:prstGeom>
          <a:solidFill>
            <a:srgbClr val="14213D"/>
          </a:solidFill>
          <a:ln/>
        </p:spPr>
        <p:txBody>
          <a:bodyPr/>
          <a:lstStyle/>
          <a:p>
            <a:endParaRPr lang="en-RO"/>
          </a:p>
        </p:txBody>
      </p:sp>
      <p:sp>
        <p:nvSpPr>
          <p:cNvPr id="21" name="Text 19"/>
          <p:cNvSpPr/>
          <p:nvPr/>
        </p:nvSpPr>
        <p:spPr>
          <a:xfrm>
            <a:off x="1066800" y="4829175"/>
            <a:ext cx="718840" cy="234950"/>
          </a:xfrm>
          <a:prstGeom prst="rect">
            <a:avLst/>
          </a:prstGeom>
          <a:noFill/>
          <a:ln/>
        </p:spPr>
        <p:txBody>
          <a:bodyPr wrap="none" lIns="0" tIns="0" rIns="0" bIns="0" rtlCol="0" anchor="t">
            <a:normAutofit/>
          </a:bodyPr>
          <a:lstStyle/>
          <a:p>
            <a:pPr marL="0" indent="0" algn="l">
              <a:lnSpc>
                <a:spcPts val="1680"/>
              </a:lnSpc>
              <a:buNone/>
            </a:pPr>
            <a:r>
              <a:rPr lang="en-US" sz="1200" b="1" kern="0" spc="100" dirty="0">
                <a:solidFill>
                  <a:srgbClr val="F28C4B"/>
                </a:solidFill>
                <a:latin typeface="IBM Plex Sans" pitchFamily="34" charset="0"/>
                <a:ea typeface="IBM Plex Sans" pitchFamily="34" charset="-122"/>
                <a:cs typeface="IBM Plex Sans" pitchFamily="34" charset="-120"/>
              </a:rPr>
              <a:t>NETEZIRE</a:t>
            </a:r>
            <a:endParaRPr lang="en-US" sz="1200" dirty="0"/>
          </a:p>
        </p:txBody>
      </p:sp>
      <p:sp>
        <p:nvSpPr>
          <p:cNvPr id="22" name="Text 20"/>
          <p:cNvSpPr/>
          <p:nvPr/>
        </p:nvSpPr>
        <p:spPr>
          <a:xfrm>
            <a:off x="1938040" y="4705350"/>
            <a:ext cx="9462775" cy="4826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6EAF2"/>
                </a:solidFill>
                <a:latin typeface="IBM Plex Sans" pitchFamily="34" charset="0"/>
                <a:ea typeface="IBM Plex Sans" pitchFamily="34" charset="-122"/>
                <a:cs typeface="IBM Plex Sans" pitchFamily="34" charset="-120"/>
              </a:rPr>
              <a:t>„Line of sight”: din fiecare punct sărim direct la cel mai îndepărtat punct al drumului vizibil în linie dreaptă. Drumul devine mai scurt și are mai puține viraje.</a:t>
            </a:r>
            <a:endParaRPr lang="en-US" sz="1300" dirty="0"/>
          </a:p>
        </p:txBody>
      </p:sp>
      <p:sp>
        <p:nvSpPr>
          <p:cNvPr id="23" name="Text 21"/>
          <p:cNvSpPr/>
          <p:nvPr/>
        </p:nvSpPr>
        <p:spPr>
          <a:xfrm>
            <a:off x="812800" y="6242050"/>
            <a:ext cx="174855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IBM Plex Sans" pitchFamily="34" charset="0"/>
                <a:ea typeface="IBM Plex Sans" pitchFamily="34" charset="-122"/>
                <a:cs typeface="IBM Plex Sans" pitchFamily="34" charset="-120"/>
              </a:rPr>
              <a:t>Planificarea drumului</a:t>
            </a:r>
            <a:endParaRPr lang="en-US" sz="1200" dirty="0"/>
          </a:p>
        </p:txBody>
      </p:sp>
      <p:sp>
        <p:nvSpPr>
          <p:cNvPr id="24" name="Text 22"/>
          <p:cNvSpPr/>
          <p:nvPr/>
        </p:nvSpPr>
        <p:spPr>
          <a:xfrm>
            <a:off x="11003320" y="6242050"/>
            <a:ext cx="37588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80"/>
                </a:solidFill>
                <a:latin typeface="IBM Plex Sans" pitchFamily="34" charset="0"/>
                <a:ea typeface="IBM Plex Sans" pitchFamily="34" charset="-122"/>
                <a:cs typeface="IBM Plex Sans" pitchFamily="34" charset="-120"/>
              </a:rPr>
              <a:t>2 / 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Aplicația</a:t>
            </a:r>
            <a:endParaRPr lang="en-US" sz="3200" dirty="0"/>
          </a:p>
        </p:txBody>
      </p:sp>
      <p:sp>
        <p:nvSpPr>
          <p:cNvPr id="3" name="Text 1"/>
          <p:cNvSpPr/>
          <p:nvPr/>
        </p:nvSpPr>
        <p:spPr>
          <a:xfrm>
            <a:off x="812800" y="13589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Un server Python care calculează și o interfață web în care harta se editează cu mouse-ul.</a:t>
            </a:r>
            <a:endParaRPr lang="en-US" sz="1500" dirty="0"/>
          </a:p>
        </p:txBody>
      </p:sp>
      <p:sp>
        <p:nvSpPr>
          <p:cNvPr id="4" name="Shape 2"/>
          <p:cNvSpPr/>
          <p:nvPr/>
        </p:nvSpPr>
        <p:spPr>
          <a:xfrm>
            <a:off x="815975" y="1933575"/>
            <a:ext cx="3041650" cy="2171700"/>
          </a:xfrm>
          <a:prstGeom prst="roundRect">
            <a:avLst>
              <a:gd name="adj" fmla="val 4532"/>
            </a:avLst>
          </a:prstGeom>
          <a:solidFill>
            <a:srgbClr val="FFFFFF"/>
          </a:solidFill>
          <a:ln w="6350">
            <a:solidFill>
              <a:srgbClr val="DEDBD2"/>
            </a:solidFill>
            <a:prstDash val="solid"/>
          </a:ln>
        </p:spPr>
        <p:txBody>
          <a:bodyPr/>
          <a:lstStyle/>
          <a:p>
            <a:endParaRPr lang="en-RO"/>
          </a:p>
        </p:txBody>
      </p:sp>
      <p:sp>
        <p:nvSpPr>
          <p:cNvPr id="5" name="Text 3"/>
          <p:cNvSpPr/>
          <p:nvPr/>
        </p:nvSpPr>
        <p:spPr>
          <a:xfrm>
            <a:off x="1047750" y="2165350"/>
            <a:ext cx="2655443"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IBM Plex Sans" pitchFamily="34" charset="0"/>
                <a:ea typeface="IBM Plex Sans" pitchFamily="34" charset="-122"/>
                <a:cs typeface="IBM Plex Sans" pitchFamily="34" charset="-120"/>
              </a:rPr>
              <a:t>BACKEND · PYTHON</a:t>
            </a:r>
            <a:endParaRPr lang="en-US" sz="1200" dirty="0"/>
          </a:p>
        </p:txBody>
      </p:sp>
      <p:sp>
        <p:nvSpPr>
          <p:cNvPr id="6" name="Text 4"/>
          <p:cNvSpPr/>
          <p:nvPr/>
        </p:nvSpPr>
        <p:spPr>
          <a:xfrm>
            <a:off x="1047750" y="2476500"/>
            <a:ext cx="265544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Nucleul de calcul</a:t>
            </a:r>
            <a:endParaRPr lang="en-US" sz="2000" dirty="0"/>
          </a:p>
        </p:txBody>
      </p:sp>
      <p:sp>
        <p:nvSpPr>
          <p:cNvPr id="7" name="Text 5"/>
          <p:cNvSpPr/>
          <p:nvPr/>
        </p:nvSpPr>
        <p:spPr>
          <a:xfrm>
            <a:off x="1133094" y="2882900"/>
            <a:ext cx="2562479" cy="10160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geometrie, grilă, quadtree</a:t>
            </a:r>
            <a:endParaRPr lang="en-US" sz="1300" dirty="0"/>
          </a:p>
          <a:p>
            <a:pPr marL="168656" indent="-168656" algn="l">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căutare și netezire</a:t>
            </a:r>
            <a:endParaRPr lang="en-US" sz="1300" dirty="0"/>
          </a:p>
          <a:p>
            <a:pPr marL="168656" indent="-168656" algn="l">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logică separată de server</a:t>
            </a:r>
            <a:endParaRPr lang="en-US" sz="1300" dirty="0"/>
          </a:p>
          <a:p>
            <a:pPr marL="168656" indent="-168656" algn="l">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teste automate (pytest)</a:t>
            </a:r>
            <a:endParaRPr lang="en-US" sz="1300" dirty="0"/>
          </a:p>
        </p:txBody>
      </p:sp>
      <p:pic>
        <p:nvPicPr>
          <p:cNvPr id="8" name="Image 0" descr="arrow-right"/>
          <p:cNvPicPr>
            <a:picLocks noChangeAspect="1"/>
          </p:cNvPicPr>
          <p:nvPr/>
        </p:nvPicPr>
        <p:blipFill>
          <a:blip r:embed="rId3"/>
          <a:srcRect/>
          <a:stretch/>
        </p:blipFill>
        <p:spPr>
          <a:xfrm>
            <a:off x="4013200" y="2917825"/>
            <a:ext cx="406400" cy="203200"/>
          </a:xfrm>
          <a:prstGeom prst="rect">
            <a:avLst/>
          </a:prstGeom>
        </p:spPr>
      </p:pic>
      <p:sp>
        <p:nvSpPr>
          <p:cNvPr id="9" name="Shape 6"/>
          <p:cNvSpPr/>
          <p:nvPr/>
        </p:nvSpPr>
        <p:spPr>
          <a:xfrm>
            <a:off x="4575175" y="1933575"/>
            <a:ext cx="3041650" cy="2171700"/>
          </a:xfrm>
          <a:prstGeom prst="roundRect">
            <a:avLst>
              <a:gd name="adj" fmla="val 4532"/>
            </a:avLst>
          </a:prstGeom>
          <a:solidFill>
            <a:srgbClr val="FFFFFF"/>
          </a:solidFill>
          <a:ln w="6350">
            <a:solidFill>
              <a:srgbClr val="DEDBD2"/>
            </a:solidFill>
            <a:prstDash val="solid"/>
          </a:ln>
        </p:spPr>
        <p:txBody>
          <a:bodyPr/>
          <a:lstStyle/>
          <a:p>
            <a:endParaRPr lang="en-RO"/>
          </a:p>
        </p:txBody>
      </p:sp>
      <p:sp>
        <p:nvSpPr>
          <p:cNvPr id="10" name="Text 7"/>
          <p:cNvSpPr/>
          <p:nvPr/>
        </p:nvSpPr>
        <p:spPr>
          <a:xfrm>
            <a:off x="4806950" y="2165350"/>
            <a:ext cx="2655443"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IBM Plex Sans" pitchFamily="34" charset="0"/>
                <a:ea typeface="IBM Plex Sans" pitchFamily="34" charset="-122"/>
                <a:cs typeface="IBM Plex Sans" pitchFamily="34" charset="-120"/>
              </a:rPr>
              <a:t>API · FASTAPI</a:t>
            </a:r>
            <a:endParaRPr lang="en-US" sz="1200" dirty="0"/>
          </a:p>
        </p:txBody>
      </p:sp>
      <p:sp>
        <p:nvSpPr>
          <p:cNvPr id="11" name="Text 8"/>
          <p:cNvSpPr/>
          <p:nvPr/>
        </p:nvSpPr>
        <p:spPr>
          <a:xfrm>
            <a:off x="4806950" y="2476500"/>
            <a:ext cx="265544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Cereri JSON</a:t>
            </a:r>
            <a:endParaRPr lang="en-US" sz="2000" dirty="0"/>
          </a:p>
        </p:txBody>
      </p:sp>
      <p:sp>
        <p:nvSpPr>
          <p:cNvPr id="12" name="Text 9"/>
          <p:cNvSpPr/>
          <p:nvPr/>
        </p:nvSpPr>
        <p:spPr>
          <a:xfrm>
            <a:off x="4892294" y="2882900"/>
            <a:ext cx="2562479" cy="10160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/api/planifica</a:t>
            </a:r>
            <a:endParaRPr lang="en-US" sz="1300" dirty="0"/>
          </a:p>
          <a:p>
            <a:pPr marL="168656" indent="-168656" algn="l">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/api/compara</a:t>
            </a:r>
            <a:endParaRPr lang="en-US" sz="1300" dirty="0"/>
          </a:p>
          <a:p>
            <a:pPr marL="168656" indent="-168656" algn="l">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/api/harti (încarcă / salvează)</a:t>
            </a:r>
            <a:endParaRPr lang="en-US" sz="1300" dirty="0"/>
          </a:p>
          <a:p>
            <a:pPr marL="168656" indent="-168656" algn="l">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validare cu pydantic</a:t>
            </a:r>
            <a:endParaRPr lang="en-US" sz="1300" dirty="0"/>
          </a:p>
        </p:txBody>
      </p:sp>
      <p:pic>
        <p:nvPicPr>
          <p:cNvPr id="13" name="Image 1" descr="arrow-right"/>
          <p:cNvPicPr>
            <a:picLocks noChangeAspect="1"/>
          </p:cNvPicPr>
          <p:nvPr/>
        </p:nvPicPr>
        <p:blipFill>
          <a:blip r:embed="rId3"/>
          <a:srcRect/>
          <a:stretch/>
        </p:blipFill>
        <p:spPr>
          <a:xfrm>
            <a:off x="7772400" y="2917825"/>
            <a:ext cx="406400" cy="203200"/>
          </a:xfrm>
          <a:prstGeom prst="rect">
            <a:avLst/>
          </a:prstGeom>
        </p:spPr>
      </p:pic>
      <p:sp>
        <p:nvSpPr>
          <p:cNvPr id="14" name="Shape 10"/>
          <p:cNvSpPr/>
          <p:nvPr/>
        </p:nvSpPr>
        <p:spPr>
          <a:xfrm>
            <a:off x="8334375" y="1933575"/>
            <a:ext cx="3041650" cy="2171700"/>
          </a:xfrm>
          <a:prstGeom prst="roundRect">
            <a:avLst>
              <a:gd name="adj" fmla="val 4532"/>
            </a:avLst>
          </a:prstGeom>
          <a:solidFill>
            <a:srgbClr val="FFFFFF"/>
          </a:solidFill>
          <a:ln w="6350">
            <a:solidFill>
              <a:srgbClr val="DEDBD2"/>
            </a:solidFill>
            <a:prstDash val="solid"/>
          </a:ln>
        </p:spPr>
        <p:txBody>
          <a:bodyPr/>
          <a:lstStyle/>
          <a:p>
            <a:endParaRPr lang="en-RO"/>
          </a:p>
        </p:txBody>
      </p:sp>
      <p:sp>
        <p:nvSpPr>
          <p:cNvPr id="15" name="Text 11"/>
          <p:cNvSpPr/>
          <p:nvPr/>
        </p:nvSpPr>
        <p:spPr>
          <a:xfrm>
            <a:off x="8566150" y="2165350"/>
            <a:ext cx="2655443"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IBM Plex Sans" pitchFamily="34" charset="0"/>
                <a:ea typeface="IBM Plex Sans" pitchFamily="34" charset="-122"/>
                <a:cs typeface="IBM Plex Sans" pitchFamily="34" charset="-120"/>
              </a:rPr>
              <a:t>FRONTEND · JAVASCRIPT</a:t>
            </a:r>
            <a:endParaRPr lang="en-US" sz="1200" dirty="0"/>
          </a:p>
        </p:txBody>
      </p:sp>
      <p:sp>
        <p:nvSpPr>
          <p:cNvPr id="16" name="Text 12"/>
          <p:cNvSpPr/>
          <p:nvPr/>
        </p:nvSpPr>
        <p:spPr>
          <a:xfrm>
            <a:off x="8566150" y="2476500"/>
            <a:ext cx="265544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Space Grotesk" pitchFamily="34" charset="0"/>
                <a:ea typeface="Space Grotesk" pitchFamily="34" charset="-122"/>
                <a:cs typeface="Space Grotesk" pitchFamily="34" charset="-120"/>
              </a:rPr>
              <a:t>Interfața</a:t>
            </a:r>
            <a:endParaRPr lang="en-US" sz="2000" dirty="0"/>
          </a:p>
        </p:txBody>
      </p:sp>
      <p:sp>
        <p:nvSpPr>
          <p:cNvPr id="17" name="Text 13"/>
          <p:cNvSpPr/>
          <p:nvPr/>
        </p:nvSpPr>
        <p:spPr>
          <a:xfrm>
            <a:off x="8651494" y="2882900"/>
            <a:ext cx="2562479" cy="10160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editor de obstacole</a:t>
            </a:r>
            <a:endParaRPr lang="en-US" sz="1300" dirty="0"/>
          </a:p>
          <a:p>
            <a:pPr marL="168656" indent="-168656" algn="l">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desen pe canvas, pe straturi</a:t>
            </a:r>
            <a:endParaRPr lang="en-US" sz="1300" dirty="0"/>
          </a:p>
          <a:p>
            <a:pPr marL="168656" indent="-168656" algn="l">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animația căutării și a împărțirii</a:t>
            </a:r>
            <a:endParaRPr lang="en-US" sz="1300" dirty="0"/>
          </a:p>
          <a:p>
            <a:pPr marL="168656" indent="-168656" algn="l">
              <a:lnSpc>
                <a:spcPts val="1950"/>
              </a:lnSpc>
              <a:buSzPct val="100000"/>
              <a:buChar char="•"/>
            </a:pPr>
            <a:r>
              <a:rPr lang="en-US" sz="1300" dirty="0">
                <a:solidFill>
                  <a:srgbClr val="4A5568"/>
                </a:solidFill>
                <a:latin typeface="IBM Plex Sans" pitchFamily="34" charset="0"/>
                <a:ea typeface="IBM Plex Sans" pitchFamily="34" charset="-122"/>
                <a:cs typeface="IBM Plex Sans" pitchFamily="34" charset="-120"/>
              </a:rPr>
              <a:t>tabel comparativ</a:t>
            </a:r>
            <a:endParaRPr lang="en-US" sz="1300" dirty="0"/>
          </a:p>
        </p:txBody>
      </p:sp>
      <p:sp>
        <p:nvSpPr>
          <p:cNvPr id="18" name="Shape 14"/>
          <p:cNvSpPr/>
          <p:nvPr/>
        </p:nvSpPr>
        <p:spPr>
          <a:xfrm>
            <a:off x="812800" y="4413250"/>
            <a:ext cx="10566400" cy="609600"/>
          </a:xfrm>
          <a:prstGeom prst="roundRect">
            <a:avLst>
              <a:gd name="adj" fmla="val 16667"/>
            </a:avLst>
          </a:prstGeom>
          <a:solidFill>
            <a:srgbClr val="E3EBF5"/>
          </a:solidFill>
          <a:ln/>
        </p:spPr>
        <p:txBody>
          <a:bodyPr/>
          <a:lstStyle/>
          <a:p>
            <a:endParaRPr lang="en-RO"/>
          </a:p>
        </p:txBody>
      </p:sp>
      <p:pic>
        <p:nvPicPr>
          <p:cNvPr id="19" name="Image 2" descr="Link"/>
          <p:cNvPicPr>
            <a:picLocks noChangeAspect="1"/>
          </p:cNvPicPr>
          <p:nvPr/>
        </p:nvPicPr>
        <p:blipFill>
          <a:blip r:embed="rId4"/>
          <a:srcRect/>
          <a:stretch/>
        </p:blipFill>
        <p:spPr>
          <a:xfrm>
            <a:off x="1041400" y="4591050"/>
            <a:ext cx="254000" cy="254000"/>
          </a:xfrm>
          <a:prstGeom prst="rect">
            <a:avLst/>
          </a:prstGeom>
        </p:spPr>
      </p:pic>
      <p:sp>
        <p:nvSpPr>
          <p:cNvPr id="20" name="Text 15"/>
          <p:cNvSpPr/>
          <p:nvPr/>
        </p:nvSpPr>
        <p:spPr>
          <a:xfrm>
            <a:off x="1447800" y="4603750"/>
            <a:ext cx="9931400" cy="2540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IBM Plex Sans" pitchFamily="34" charset="0"/>
                <a:ea typeface="IBM Plex Sans" pitchFamily="34" charset="-122"/>
                <a:cs typeface="IBM Plex Sans" pitchFamily="34" charset="-120"/>
              </a:rPr>
              <a:t>Ambele descompuneri au aceeași interfață de graf, deci algoritmii și netezirea rulează pe ele fără nicio modificare.</a:t>
            </a:r>
            <a:endParaRPr lang="en-US" sz="1300" dirty="0"/>
          </a:p>
        </p:txBody>
      </p:sp>
      <p:sp>
        <p:nvSpPr>
          <p:cNvPr id="21" name="Text 16"/>
          <p:cNvSpPr/>
          <p:nvPr/>
        </p:nvSpPr>
        <p:spPr>
          <a:xfrm>
            <a:off x="812800" y="6242050"/>
            <a:ext cx="174855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IBM Plex Sans" pitchFamily="34" charset="0"/>
                <a:ea typeface="IBM Plex Sans" pitchFamily="34" charset="-122"/>
                <a:cs typeface="IBM Plex Sans" pitchFamily="34" charset="-120"/>
              </a:rPr>
              <a:t>Planificarea drumului</a:t>
            </a:r>
            <a:endParaRPr lang="en-US" sz="1200" dirty="0"/>
          </a:p>
        </p:txBody>
      </p:sp>
      <p:sp>
        <p:nvSpPr>
          <p:cNvPr id="22" name="Text 17"/>
          <p:cNvSpPr/>
          <p:nvPr/>
        </p:nvSpPr>
        <p:spPr>
          <a:xfrm>
            <a:off x="11003320" y="6242050"/>
            <a:ext cx="37588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80"/>
                </a:solidFill>
                <a:latin typeface="IBM Plex Sans" pitchFamily="34" charset="0"/>
                <a:ea typeface="IBM Plex Sans" pitchFamily="34" charset="-122"/>
                <a:cs typeface="IBM Plex Sans" pitchFamily="34" charset="-120"/>
              </a:rPr>
              <a:t>3 / 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1908175"/>
            <a:ext cx="538937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IBM Plex Sans" pitchFamily="34" charset="0"/>
                <a:ea typeface="IBM Plex Sans" pitchFamily="34" charset="-122"/>
                <a:cs typeface="IBM Plex Sans" pitchFamily="34" charset="-120"/>
              </a:rPr>
              <a:t>DESCOMPUNEREA OMOGENĂ</a:t>
            </a:r>
            <a:endParaRPr lang="en-US" sz="1200" dirty="0"/>
          </a:p>
        </p:txBody>
      </p:sp>
      <p:sp>
        <p:nvSpPr>
          <p:cNvPr id="3" name="Text 1"/>
          <p:cNvSpPr>
            <a:spLocks noGrp="1"/>
          </p:cNvSpPr>
          <p:nvPr>
            <p:ph type="title"/>
          </p:nvPr>
        </p:nvSpPr>
        <p:spPr>
          <a:xfrm>
            <a:off x="812800" y="2320925"/>
            <a:ext cx="538937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Grila uniformă</a:t>
            </a:r>
            <a:endParaRPr lang="en-US" sz="3200" dirty="0"/>
          </a:p>
        </p:txBody>
      </p:sp>
      <p:sp>
        <p:nvSpPr>
          <p:cNvPr id="4" name="Text 2"/>
          <p:cNvSpPr/>
          <p:nvPr/>
        </p:nvSpPr>
        <p:spPr>
          <a:xfrm>
            <a:off x="869652" y="2968625"/>
            <a:ext cx="5324900" cy="1803400"/>
          </a:xfrm>
          <a:prstGeom prst="rect">
            <a:avLst/>
          </a:prstGeom>
          <a:noFill/>
          <a:ln/>
        </p:spPr>
        <p:txBody>
          <a:bodyPr wrap="square" lIns="0" tIns="0" rIns="0" bIns="0" rtlCol="0" anchor="t">
            <a:normAutofit/>
          </a:bodyPr>
          <a:lstStyle/>
          <a:p>
            <a:pPr marL="197148" indent="-197148" algn="l">
              <a:lnSpc>
                <a:spcPts val="2030"/>
              </a:lnSpc>
              <a:buSzPct val="100000"/>
              <a:buFontTx/>
              <a:buAutoNum type="arabicPeriod"/>
            </a:pPr>
            <a:r>
              <a:rPr lang="en-US" sz="1400" dirty="0">
                <a:solidFill>
                  <a:srgbClr val="4A5568"/>
                </a:solidFill>
                <a:latin typeface="IBM Plex Sans" pitchFamily="34" charset="0"/>
                <a:ea typeface="IBM Plex Sans" pitchFamily="34" charset="-122"/>
                <a:cs typeface="IBM Plex Sans" pitchFamily="34" charset="-120"/>
              </a:rPr>
              <a:t>Harta se împarte în pătrate de aceeași latură L.</a:t>
            </a:r>
            <a:endParaRPr lang="en-US" sz="1400" dirty="0"/>
          </a:p>
          <a:p>
            <a:pPr marL="197148" indent="-197148" algn="l">
              <a:lnSpc>
                <a:spcPts val="2030"/>
              </a:lnSpc>
              <a:buSzPct val="100000"/>
              <a:buFontTx/>
              <a:buAutoNum type="arabicPeriod"/>
            </a:pPr>
            <a:r>
              <a:rPr lang="en-US" sz="1400" dirty="0">
                <a:solidFill>
                  <a:srgbClr val="4A5568"/>
                </a:solidFill>
                <a:latin typeface="IBM Plex Sans" pitchFamily="34" charset="0"/>
                <a:ea typeface="IBM Plex Sans" pitchFamily="34" charset="-122"/>
                <a:cs typeface="IBM Plex Sans" pitchFamily="34" charset="-120"/>
              </a:rPr>
              <a:t>Fiecare celulă e liberă, ocupată sau mixtă (atinge parțial un obstacol).</a:t>
            </a:r>
            <a:endParaRPr lang="en-US" sz="1400" dirty="0"/>
          </a:p>
          <a:p>
            <a:pPr marL="197148" indent="-197148" algn="l">
              <a:lnSpc>
                <a:spcPts val="2030"/>
              </a:lnSpc>
              <a:buSzPct val="100000"/>
              <a:buFontTx/>
              <a:buAutoNum type="arabicPeriod"/>
            </a:pPr>
            <a:r>
              <a:rPr lang="en-US" sz="1400" dirty="0">
                <a:solidFill>
                  <a:srgbClr val="4A5568"/>
                </a:solidFill>
                <a:latin typeface="IBM Plex Sans" pitchFamily="34" charset="0"/>
                <a:ea typeface="IBM Plex Sans" pitchFamily="34" charset="-122"/>
                <a:cs typeface="IBM Plex Sans" pitchFamily="34" charset="-120"/>
              </a:rPr>
              <a:t>Celulele mixte sunt tratate ca ocupate: apare o margine de siguranță în jurul obstacolelor.</a:t>
            </a:r>
            <a:endParaRPr lang="en-US" sz="1400" dirty="0"/>
          </a:p>
          <a:p>
            <a:pPr marL="197148" indent="-197148" algn="l">
              <a:lnSpc>
                <a:spcPts val="2030"/>
              </a:lnSpc>
              <a:buSzPct val="100000"/>
              <a:buFontTx/>
              <a:buAutoNum type="arabicPeriod"/>
            </a:pPr>
            <a:r>
              <a:rPr lang="en-US" sz="1400" dirty="0">
                <a:solidFill>
                  <a:srgbClr val="4A5568"/>
                </a:solidFill>
                <a:latin typeface="IBM Plex Sans" pitchFamily="34" charset="0"/>
                <a:ea typeface="IBM Plex Sans" pitchFamily="34" charset="-122"/>
                <a:cs typeface="IBM Plex Sans" pitchFamily="34" charset="-120"/>
              </a:rPr>
              <a:t>Graful: celulele libere, cu 4 sau 8 vecini; diagonala nu poate tăia colțul unui obstacol.</a:t>
            </a:r>
            <a:endParaRPr lang="en-US" sz="1400" dirty="0"/>
          </a:p>
        </p:txBody>
      </p:sp>
      <p:pic>
        <p:nvPicPr>
          <p:cNvPr id="5" name="Image 0" descr="Grilă uniformă de 12 × 8 celule în jurul a două obstacole: celule libere, mixte și ocupate"/>
          <p:cNvPicPr>
            <a:picLocks noChangeAspect="1"/>
          </p:cNvPicPr>
          <p:nvPr/>
        </p:nvPicPr>
        <p:blipFill>
          <a:blip r:embed="rId3"/>
          <a:srcRect t="-49" b="-49"/>
          <a:stretch/>
        </p:blipFill>
        <p:spPr>
          <a:xfrm>
            <a:off x="6553200" y="1536700"/>
            <a:ext cx="4826000" cy="3219450"/>
          </a:xfrm>
          <a:prstGeom prst="rect">
            <a:avLst/>
          </a:prstGeom>
        </p:spPr>
      </p:pic>
      <p:sp>
        <p:nvSpPr>
          <p:cNvPr id="6" name="Shape 3"/>
          <p:cNvSpPr/>
          <p:nvPr/>
        </p:nvSpPr>
        <p:spPr>
          <a:xfrm>
            <a:off x="6556375" y="4914900"/>
            <a:ext cx="196850" cy="196850"/>
          </a:xfrm>
          <a:prstGeom prst="rect">
            <a:avLst/>
          </a:prstGeom>
          <a:solidFill>
            <a:srgbClr val="FBFBF8"/>
          </a:solidFill>
          <a:ln w="6350">
            <a:solidFill>
              <a:srgbClr val="B5B5B5"/>
            </a:solidFill>
            <a:prstDash val="solid"/>
          </a:ln>
        </p:spPr>
        <p:txBody>
          <a:bodyPr/>
          <a:lstStyle/>
          <a:p>
            <a:endParaRPr lang="en-RO"/>
          </a:p>
        </p:txBody>
      </p:sp>
      <p:sp>
        <p:nvSpPr>
          <p:cNvPr id="7" name="Text 4"/>
          <p:cNvSpPr/>
          <p:nvPr/>
        </p:nvSpPr>
        <p:spPr>
          <a:xfrm>
            <a:off x="6959600" y="4908550"/>
            <a:ext cx="46672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liberă</a:t>
            </a:r>
            <a:endParaRPr lang="en-US" sz="1200" dirty="0"/>
          </a:p>
        </p:txBody>
      </p:sp>
      <p:sp>
        <p:nvSpPr>
          <p:cNvPr id="8" name="Shape 5"/>
          <p:cNvSpPr/>
          <p:nvPr/>
        </p:nvSpPr>
        <p:spPr>
          <a:xfrm>
            <a:off x="7554913" y="4914900"/>
            <a:ext cx="196850" cy="196850"/>
          </a:xfrm>
          <a:prstGeom prst="rect">
            <a:avLst/>
          </a:prstGeom>
          <a:solidFill>
            <a:srgbClr val="FFF1A8"/>
          </a:solidFill>
          <a:ln w="6350">
            <a:solidFill>
              <a:srgbClr val="D9C870"/>
            </a:solidFill>
            <a:prstDash val="solid"/>
          </a:ln>
        </p:spPr>
        <p:txBody>
          <a:bodyPr/>
          <a:lstStyle/>
          <a:p>
            <a:endParaRPr lang="en-RO"/>
          </a:p>
        </p:txBody>
      </p:sp>
      <p:sp>
        <p:nvSpPr>
          <p:cNvPr id="9" name="Text 6"/>
          <p:cNvSpPr/>
          <p:nvPr/>
        </p:nvSpPr>
        <p:spPr>
          <a:xfrm>
            <a:off x="7958138" y="4908550"/>
            <a:ext cx="46005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mixtă</a:t>
            </a:r>
            <a:endParaRPr lang="en-US" sz="1200" dirty="0"/>
          </a:p>
        </p:txBody>
      </p:sp>
      <p:sp>
        <p:nvSpPr>
          <p:cNvPr id="10" name="Shape 7"/>
          <p:cNvSpPr/>
          <p:nvPr/>
        </p:nvSpPr>
        <p:spPr>
          <a:xfrm>
            <a:off x="8547894" y="4914900"/>
            <a:ext cx="196850" cy="196850"/>
          </a:xfrm>
          <a:prstGeom prst="rect">
            <a:avLst/>
          </a:prstGeom>
          <a:solidFill>
            <a:srgbClr val="BCD4EE"/>
          </a:solidFill>
          <a:ln w="6350">
            <a:solidFill>
              <a:srgbClr val="8FB0D6"/>
            </a:solidFill>
            <a:prstDash val="solid"/>
          </a:ln>
        </p:spPr>
        <p:txBody>
          <a:bodyPr/>
          <a:lstStyle/>
          <a:p>
            <a:endParaRPr lang="en-RO"/>
          </a:p>
        </p:txBody>
      </p:sp>
      <p:sp>
        <p:nvSpPr>
          <p:cNvPr id="11" name="Text 8"/>
          <p:cNvSpPr/>
          <p:nvPr/>
        </p:nvSpPr>
        <p:spPr>
          <a:xfrm>
            <a:off x="8951119" y="4908550"/>
            <a:ext cx="66389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ocupată</a:t>
            </a:r>
            <a:endParaRPr lang="en-US" sz="1200" dirty="0"/>
          </a:p>
        </p:txBody>
      </p:sp>
      <p:sp>
        <p:nvSpPr>
          <p:cNvPr id="12" name="Shape 9"/>
          <p:cNvSpPr/>
          <p:nvPr/>
        </p:nvSpPr>
        <p:spPr>
          <a:xfrm>
            <a:off x="9707563" y="4911725"/>
            <a:ext cx="203200" cy="203200"/>
          </a:xfrm>
          <a:prstGeom prst="rect">
            <a:avLst/>
          </a:prstGeom>
          <a:solidFill>
            <a:srgbClr val="2F6FB5"/>
          </a:solidFill>
          <a:ln/>
        </p:spPr>
        <p:txBody>
          <a:bodyPr/>
          <a:lstStyle/>
          <a:p>
            <a:endParaRPr lang="en-RO"/>
          </a:p>
        </p:txBody>
      </p:sp>
      <p:sp>
        <p:nvSpPr>
          <p:cNvPr id="13" name="Text 10"/>
          <p:cNvSpPr/>
          <p:nvPr/>
        </p:nvSpPr>
        <p:spPr>
          <a:xfrm>
            <a:off x="10113963" y="4908550"/>
            <a:ext cx="70127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obstacol</a:t>
            </a:r>
            <a:endParaRPr lang="en-US" sz="1200" dirty="0"/>
          </a:p>
        </p:txBody>
      </p:sp>
      <p:sp>
        <p:nvSpPr>
          <p:cNvPr id="14" name="Text 11"/>
          <p:cNvSpPr/>
          <p:nvPr/>
        </p:nvSpPr>
        <p:spPr>
          <a:xfrm>
            <a:off x="812800" y="6242050"/>
            <a:ext cx="174855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IBM Plex Sans" pitchFamily="34" charset="0"/>
                <a:ea typeface="IBM Plex Sans" pitchFamily="34" charset="-122"/>
                <a:cs typeface="IBM Plex Sans" pitchFamily="34" charset="-120"/>
              </a:rPr>
              <a:t>Planificarea drumului</a:t>
            </a:r>
            <a:endParaRPr lang="en-US" sz="1200" dirty="0"/>
          </a:p>
        </p:txBody>
      </p:sp>
      <p:sp>
        <p:nvSpPr>
          <p:cNvPr id="15" name="Text 12"/>
          <p:cNvSpPr/>
          <p:nvPr/>
        </p:nvSpPr>
        <p:spPr>
          <a:xfrm>
            <a:off x="11003320" y="6242050"/>
            <a:ext cx="37588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80"/>
                </a:solidFill>
                <a:latin typeface="IBM Plex Sans" pitchFamily="34" charset="0"/>
                <a:ea typeface="IBM Plex Sans" pitchFamily="34" charset="-122"/>
                <a:cs typeface="IBM Plex Sans" pitchFamily="34" charset="-120"/>
              </a:rPr>
              <a:t>4 / 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CE5"/>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Grila uniformă în aplicație</a:t>
            </a:r>
            <a:endParaRPr lang="en-US" sz="3200" dirty="0"/>
          </a:p>
        </p:txBody>
      </p:sp>
      <p:sp>
        <p:nvSpPr>
          <p:cNvPr id="3" name="Shape 1"/>
          <p:cNvSpPr/>
          <p:nvPr/>
        </p:nvSpPr>
        <p:spPr>
          <a:xfrm>
            <a:off x="822325" y="1520825"/>
            <a:ext cx="6267450" cy="4171950"/>
          </a:xfrm>
          <a:prstGeom prst="roundRect">
            <a:avLst>
              <a:gd name="adj" fmla="val 2207"/>
            </a:avLst>
          </a:prstGeom>
          <a:solidFill>
            <a:srgbClr val="E2DFD6"/>
          </a:solidFill>
          <a:ln w="19050">
            <a:solidFill>
              <a:srgbClr val="9AA1AD"/>
            </a:solidFill>
            <a:prstDash val="dash"/>
          </a:ln>
        </p:spPr>
        <p:txBody>
          <a:bodyPr/>
          <a:lstStyle/>
          <a:p>
            <a:endParaRPr lang="en-RO"/>
          </a:p>
        </p:txBody>
      </p:sp>
      <p:pic>
        <p:nvPicPr>
          <p:cNvPr id="4" name="Image 0" descr="Play"/>
          <p:cNvPicPr>
            <a:picLocks noChangeAspect="1"/>
          </p:cNvPicPr>
          <p:nvPr/>
        </p:nvPicPr>
        <p:blipFill>
          <a:blip r:embed="rId5"/>
          <a:srcRect/>
          <a:stretch/>
        </p:blipFill>
        <p:spPr>
          <a:xfrm>
            <a:off x="3727450" y="2955925"/>
            <a:ext cx="457200" cy="457200"/>
          </a:xfrm>
          <a:prstGeom prst="rect">
            <a:avLst/>
          </a:prstGeom>
        </p:spPr>
      </p:pic>
      <p:sp>
        <p:nvSpPr>
          <p:cNvPr id="5" name="Text 2"/>
          <p:cNvSpPr/>
          <p:nvPr/>
        </p:nvSpPr>
        <p:spPr>
          <a:xfrm>
            <a:off x="2477694" y="3514725"/>
            <a:ext cx="2956613" cy="76835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5568"/>
                </a:solidFill>
                <a:latin typeface="IBM Plex Sans" pitchFamily="34" charset="0"/>
                <a:ea typeface="IBM Plex Sans" pitchFamily="34" charset="-122"/>
                <a:cs typeface="IBM Plex Sans" pitchFamily="34" charset="-120"/>
              </a:rPr>
              <a:t>Loc pentru video: animația drumului</a:t>
            </a:r>
            <a:endParaRPr lang="en-US" sz="1400" dirty="0"/>
          </a:p>
          <a:p>
            <a:pPr marL="0" indent="0" algn="ctr">
              <a:lnSpc>
                <a:spcPts val="1960"/>
              </a:lnSpc>
              <a:buNone/>
            </a:pPr>
            <a:r>
              <a:rPr lang="en-US" sz="1400" dirty="0">
                <a:solidFill>
                  <a:srgbClr val="4A5568"/>
                </a:solidFill>
                <a:latin typeface="IBM Plex Sans" pitchFamily="34" charset="0"/>
                <a:ea typeface="IBM Plex Sans" pitchFamily="34" charset="-122"/>
                <a:cs typeface="IBM Plex Sans" pitchFamily="34" charset="-120"/>
              </a:rPr>
              <a:t>cu Dijkstra și cu A*</a:t>
            </a:r>
            <a:endParaRPr lang="en-US" sz="1400" dirty="0"/>
          </a:p>
        </p:txBody>
      </p:sp>
      <p:sp>
        <p:nvSpPr>
          <p:cNvPr id="6" name="Text 3"/>
          <p:cNvSpPr/>
          <p:nvPr/>
        </p:nvSpPr>
        <p:spPr>
          <a:xfrm>
            <a:off x="7505700" y="2127250"/>
            <a:ext cx="3989705"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2F6FB5"/>
                </a:solidFill>
                <a:latin typeface="Space Grotesk" pitchFamily="34" charset="0"/>
                <a:ea typeface="Space Grotesk" pitchFamily="34" charset="-122"/>
                <a:cs typeface="Space Grotesk" pitchFamily="34" charset="-120"/>
              </a:rPr>
              <a:t>9 600</a:t>
            </a:r>
            <a:endParaRPr lang="en-US" sz="3200" dirty="0"/>
          </a:p>
        </p:txBody>
      </p:sp>
      <p:sp>
        <p:nvSpPr>
          <p:cNvPr id="7" name="Text 4"/>
          <p:cNvSpPr/>
          <p:nvPr/>
        </p:nvSpPr>
        <p:spPr>
          <a:xfrm>
            <a:off x="7505700" y="2622550"/>
            <a:ext cx="4648200" cy="2540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celule pe harta demo (120 × 80 cm, latura de 1 cm)</a:t>
            </a:r>
            <a:endParaRPr lang="en-US" sz="1300" dirty="0"/>
          </a:p>
        </p:txBody>
      </p:sp>
      <p:sp>
        <p:nvSpPr>
          <p:cNvPr id="8" name="Text 5"/>
          <p:cNvSpPr/>
          <p:nvPr/>
        </p:nvSpPr>
        <p:spPr>
          <a:xfrm>
            <a:off x="7505700" y="3130550"/>
            <a:ext cx="3989705"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2F6FB5"/>
                </a:solidFill>
                <a:latin typeface="Space Grotesk" pitchFamily="34" charset="0"/>
                <a:ea typeface="Space Grotesk" pitchFamily="34" charset="-122"/>
                <a:cs typeface="Space Grotesk" pitchFamily="34" charset="-120"/>
              </a:rPr>
              <a:t>7 080 → 4 732</a:t>
            </a:r>
            <a:endParaRPr lang="en-US" sz="3200" dirty="0"/>
          </a:p>
        </p:txBody>
      </p:sp>
      <p:sp>
        <p:nvSpPr>
          <p:cNvPr id="9" name="Text 6"/>
          <p:cNvSpPr/>
          <p:nvPr/>
        </p:nvSpPr>
        <p:spPr>
          <a:xfrm>
            <a:off x="7505700" y="3625850"/>
            <a:ext cx="4648200" cy="2540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celule vizitate: Dijkstra → A*, cu o treime mai puține</a:t>
            </a:r>
            <a:endParaRPr lang="en-US" sz="1300" dirty="0"/>
          </a:p>
        </p:txBody>
      </p:sp>
      <p:sp>
        <p:nvSpPr>
          <p:cNvPr id="10" name="Text 7"/>
          <p:cNvSpPr/>
          <p:nvPr/>
        </p:nvSpPr>
        <p:spPr>
          <a:xfrm>
            <a:off x="7505700" y="4133850"/>
            <a:ext cx="3989705"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2F6FB5"/>
                </a:solidFill>
                <a:latin typeface="Space Grotesk" pitchFamily="34" charset="0"/>
                <a:ea typeface="Space Grotesk" pitchFamily="34" charset="-122"/>
                <a:cs typeface="Space Grotesk" pitchFamily="34" charset="-120"/>
              </a:rPr>
              <a:t>≈ 180 cm</a:t>
            </a:r>
            <a:endParaRPr lang="en-US" sz="3200" dirty="0"/>
          </a:p>
        </p:txBody>
      </p:sp>
      <p:sp>
        <p:nvSpPr>
          <p:cNvPr id="11" name="Text 8"/>
          <p:cNvSpPr/>
          <p:nvPr/>
        </p:nvSpPr>
        <p:spPr>
          <a:xfrm>
            <a:off x="7505700" y="4629150"/>
            <a:ext cx="3989705" cy="4826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drumul la ambii algoritmi; după netezire, 13 → 7 viraje</a:t>
            </a:r>
            <a:endParaRPr lang="en-US" sz="1300" dirty="0"/>
          </a:p>
        </p:txBody>
      </p:sp>
      <p:sp>
        <p:nvSpPr>
          <p:cNvPr id="12" name="Text 9"/>
          <p:cNvSpPr/>
          <p:nvPr/>
        </p:nvSpPr>
        <p:spPr>
          <a:xfrm>
            <a:off x="812800" y="6242050"/>
            <a:ext cx="363628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IBM Plex Sans" pitchFamily="34" charset="0"/>
                <a:ea typeface="IBM Plex Sans" pitchFamily="34" charset="-122"/>
                <a:cs typeface="IBM Plex Sans" pitchFamily="34" charset="-120"/>
              </a:rPr>
              <a:t>Planificarea drumului · Dijkstra și A*, 8 vecini</a:t>
            </a:r>
            <a:endParaRPr lang="en-US" sz="1200" dirty="0"/>
          </a:p>
        </p:txBody>
      </p:sp>
      <p:sp>
        <p:nvSpPr>
          <p:cNvPr id="13" name="Text 10"/>
          <p:cNvSpPr/>
          <p:nvPr/>
        </p:nvSpPr>
        <p:spPr>
          <a:xfrm>
            <a:off x="11003320" y="6242050"/>
            <a:ext cx="37588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80"/>
                </a:solidFill>
                <a:latin typeface="IBM Plex Sans" pitchFamily="34" charset="0"/>
                <a:ea typeface="IBM Plex Sans" pitchFamily="34" charset="-122"/>
                <a:cs typeface="IBM Plex Sans" pitchFamily="34" charset="-120"/>
              </a:rPr>
              <a:t>5 / 8</a:t>
            </a:r>
            <a:endParaRPr lang="en-US" sz="1200" dirty="0"/>
          </a:p>
        </p:txBody>
      </p:sp>
      <p:pic>
        <p:nvPicPr>
          <p:cNvPr id="14" name="Screen Recording 2026-10-28 at 19.49.43.mov">
            <a:hlinkClick r:id="" action="ppaction://media"/>
            <a:extLst>
              <a:ext uri="{FF2B5EF4-FFF2-40B4-BE49-F238E27FC236}">
                <a16:creationId xmlns:a16="http://schemas.microsoft.com/office/drawing/2014/main" id="{3ACE2B3F-9F3B-C869-FC27-640D17ACDEE2}"/>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71075" y="1508125"/>
            <a:ext cx="6569849" cy="42354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823"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a:effectLst/>
      </p:bgPr>
    </p:bg>
    <p:spTree>
      <p:nvGrpSpPr>
        <p:cNvPr id="1" name=""/>
        <p:cNvGrpSpPr/>
        <p:nvPr/>
      </p:nvGrpSpPr>
      <p:grpSpPr>
        <a:xfrm>
          <a:off x="0" y="0"/>
          <a:ext cx="0" cy="0"/>
          <a:chOff x="0" y="0"/>
          <a:chExt cx="0" cy="0"/>
        </a:xfrm>
      </p:grpSpPr>
      <p:sp>
        <p:nvSpPr>
          <p:cNvPr id="2" name="Text 0"/>
          <p:cNvSpPr/>
          <p:nvPr/>
        </p:nvSpPr>
        <p:spPr>
          <a:xfrm>
            <a:off x="812800" y="1908175"/>
            <a:ext cx="538937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C2410C"/>
                </a:solidFill>
                <a:latin typeface="IBM Plex Sans" pitchFamily="34" charset="0"/>
                <a:ea typeface="IBM Plex Sans" pitchFamily="34" charset="-122"/>
                <a:cs typeface="IBM Plex Sans" pitchFamily="34" charset="-120"/>
              </a:rPr>
              <a:t>METODA ARBORELUI</a:t>
            </a:r>
            <a:endParaRPr lang="en-US" sz="1200" dirty="0"/>
          </a:p>
        </p:txBody>
      </p:sp>
      <p:sp>
        <p:nvSpPr>
          <p:cNvPr id="3" name="Text 1"/>
          <p:cNvSpPr>
            <a:spLocks noGrp="1"/>
          </p:cNvSpPr>
          <p:nvPr>
            <p:ph type="title"/>
          </p:nvPr>
        </p:nvSpPr>
        <p:spPr>
          <a:xfrm>
            <a:off x="812800" y="2320925"/>
            <a:ext cx="538937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Quadtree</a:t>
            </a:r>
            <a:endParaRPr lang="en-US" sz="3200" dirty="0"/>
          </a:p>
        </p:txBody>
      </p:sp>
      <p:sp>
        <p:nvSpPr>
          <p:cNvPr id="4" name="Text 2"/>
          <p:cNvSpPr/>
          <p:nvPr/>
        </p:nvSpPr>
        <p:spPr>
          <a:xfrm>
            <a:off x="869652" y="2968625"/>
            <a:ext cx="5324900" cy="1803400"/>
          </a:xfrm>
          <a:prstGeom prst="rect">
            <a:avLst/>
          </a:prstGeom>
          <a:noFill/>
          <a:ln/>
        </p:spPr>
        <p:txBody>
          <a:bodyPr wrap="square" lIns="0" tIns="0" rIns="0" bIns="0" rtlCol="0" anchor="t">
            <a:normAutofit/>
          </a:bodyPr>
          <a:lstStyle/>
          <a:p>
            <a:pPr marL="197148" indent="-197148" algn="l">
              <a:lnSpc>
                <a:spcPts val="2030"/>
              </a:lnSpc>
              <a:buSzPct val="100000"/>
              <a:buFontTx/>
              <a:buAutoNum type="arabicPeriod"/>
            </a:pPr>
            <a:r>
              <a:rPr lang="en-US" sz="1400" dirty="0">
                <a:solidFill>
                  <a:srgbClr val="4A5568"/>
                </a:solidFill>
                <a:latin typeface="IBM Plex Sans" pitchFamily="34" charset="0"/>
                <a:ea typeface="IBM Plex Sans" pitchFamily="34" charset="-122"/>
                <a:cs typeface="IBM Plex Sans" pitchFamily="34" charset="-120"/>
              </a:rPr>
              <a:t>Se pornește de la harta întreagă, ca o singură celulă.</a:t>
            </a:r>
            <a:endParaRPr lang="en-US" sz="1400" dirty="0"/>
          </a:p>
          <a:p>
            <a:pPr marL="197148" indent="-197148" algn="l">
              <a:lnSpc>
                <a:spcPts val="2030"/>
              </a:lnSpc>
              <a:buSzPct val="100000"/>
              <a:buFontTx/>
              <a:buAutoNum type="arabicPeriod"/>
            </a:pPr>
            <a:r>
              <a:rPr lang="en-US" sz="1400" dirty="0">
                <a:solidFill>
                  <a:srgbClr val="4A5568"/>
                </a:solidFill>
                <a:latin typeface="IBM Plex Sans" pitchFamily="34" charset="0"/>
                <a:ea typeface="IBM Plex Sans" pitchFamily="34" charset="-122"/>
                <a:cs typeface="IBM Plex Sans" pitchFamily="34" charset="-120"/>
              </a:rPr>
              <a:t>O celulă mixtă se împarte în 4 sferturi egale; cele libere sau ocupate rămân frunze.</a:t>
            </a:r>
            <a:endParaRPr lang="en-US" sz="1400" dirty="0"/>
          </a:p>
          <a:p>
            <a:pPr marL="197148" indent="-197148" algn="l">
              <a:lnSpc>
                <a:spcPts val="2030"/>
              </a:lnSpc>
              <a:buSzPct val="100000"/>
              <a:buFontTx/>
              <a:buAutoNum type="arabicPeriod"/>
            </a:pPr>
            <a:r>
              <a:rPr lang="en-US" sz="1400" dirty="0">
                <a:solidFill>
                  <a:srgbClr val="4A5568"/>
                </a:solidFill>
                <a:latin typeface="IBM Plex Sans" pitchFamily="34" charset="0"/>
                <a:ea typeface="IBM Plex Sans" pitchFamily="34" charset="-122"/>
                <a:cs typeface="IBM Plex Sans" pitchFamily="34" charset="-120"/>
              </a:rPr>
              <a:t>Oprire la adâncimea maximă sau la latura minimă; frunzele mixte rămase devin ocupate.</a:t>
            </a:r>
            <a:endParaRPr lang="en-US" sz="1400" dirty="0"/>
          </a:p>
          <a:p>
            <a:pPr marL="197148" indent="-197148" algn="l">
              <a:lnSpc>
                <a:spcPts val="2030"/>
              </a:lnSpc>
              <a:buSzPct val="100000"/>
              <a:buFontTx/>
              <a:buAutoNum type="arabicPeriod"/>
            </a:pPr>
            <a:r>
              <a:rPr lang="en-US" sz="1400" dirty="0">
                <a:solidFill>
                  <a:srgbClr val="4A5568"/>
                </a:solidFill>
                <a:latin typeface="IBM Plex Sans" pitchFamily="34" charset="0"/>
                <a:ea typeface="IBM Plex Sans" pitchFamily="34" charset="-122"/>
                <a:cs typeface="IBM Plex Sans" pitchFamily="34" charset="-120"/>
              </a:rPr>
              <a:t>Vecinii: frunzele libere cu o latură comună (la 8 vecini, și un colț); costul e distanța dintre centre.</a:t>
            </a:r>
            <a:endParaRPr lang="en-US" sz="1400" dirty="0"/>
          </a:p>
        </p:txBody>
      </p:sp>
      <p:pic>
        <p:nvPicPr>
          <p:cNvPr id="5" name="Image 0" descr="Quadtree pe aceeași hartă: celule mari în zonele libere și celule mici lângă obstacole"/>
          <p:cNvPicPr>
            <a:picLocks noChangeAspect="1"/>
          </p:cNvPicPr>
          <p:nvPr/>
        </p:nvPicPr>
        <p:blipFill>
          <a:blip r:embed="rId3"/>
          <a:srcRect t="-49" b="-49"/>
          <a:stretch/>
        </p:blipFill>
        <p:spPr>
          <a:xfrm>
            <a:off x="6553200" y="1536700"/>
            <a:ext cx="4826000" cy="3219450"/>
          </a:xfrm>
          <a:prstGeom prst="rect">
            <a:avLst/>
          </a:prstGeom>
        </p:spPr>
      </p:pic>
      <p:sp>
        <p:nvSpPr>
          <p:cNvPr id="6" name="Text 3"/>
          <p:cNvSpPr/>
          <p:nvPr/>
        </p:nvSpPr>
        <p:spPr>
          <a:xfrm>
            <a:off x="6553200" y="4908550"/>
            <a:ext cx="497078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Adâncime 4: </a:t>
            </a:r>
            <a:r>
              <a:rPr lang="en-US" sz="1200" b="1" dirty="0">
                <a:solidFill>
                  <a:srgbClr val="4A5568"/>
                </a:solidFill>
                <a:latin typeface="IBM Plex Sans" pitchFamily="34" charset="0"/>
                <a:ea typeface="IBM Plex Sans" pitchFamily="34" charset="-122"/>
                <a:cs typeface="IBM Plex Sans" pitchFamily="34" charset="-120"/>
              </a:rPr>
              <a:t>133 de celule</a:t>
            </a:r>
            <a:r>
              <a:rPr lang="en-US" sz="1200" dirty="0">
                <a:solidFill>
                  <a:srgbClr val="4A5568"/>
                </a:solidFill>
                <a:latin typeface="IBM Plex Sans" pitchFamily="34" charset="0"/>
                <a:ea typeface="IBM Plex Sans" pitchFamily="34" charset="-122"/>
                <a:cs typeface="IBM Plex Sans" pitchFamily="34" charset="-120"/>
              </a:rPr>
              <a:t>, față de 256 la o grilă de aceeași finețe.</a:t>
            </a:r>
            <a:endParaRPr lang="en-US" sz="1200" dirty="0"/>
          </a:p>
        </p:txBody>
      </p:sp>
      <p:sp>
        <p:nvSpPr>
          <p:cNvPr id="7" name="Text 4"/>
          <p:cNvSpPr/>
          <p:nvPr/>
        </p:nvSpPr>
        <p:spPr>
          <a:xfrm>
            <a:off x="812800" y="6242050"/>
            <a:ext cx="174855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IBM Plex Sans" pitchFamily="34" charset="0"/>
                <a:ea typeface="IBM Plex Sans" pitchFamily="34" charset="-122"/>
                <a:cs typeface="IBM Plex Sans" pitchFamily="34" charset="-120"/>
              </a:rPr>
              <a:t>Planificarea drumului</a:t>
            </a:r>
            <a:endParaRPr lang="en-US" sz="1200" dirty="0"/>
          </a:p>
        </p:txBody>
      </p:sp>
      <p:sp>
        <p:nvSpPr>
          <p:cNvPr id="8" name="Text 5"/>
          <p:cNvSpPr/>
          <p:nvPr/>
        </p:nvSpPr>
        <p:spPr>
          <a:xfrm>
            <a:off x="11003320" y="6242050"/>
            <a:ext cx="37588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80"/>
                </a:solidFill>
                <a:latin typeface="IBM Plex Sans" pitchFamily="34" charset="0"/>
                <a:ea typeface="IBM Plex Sans" pitchFamily="34" charset="-122"/>
                <a:cs typeface="IBM Plex Sans" pitchFamily="34" charset="-120"/>
              </a:rPr>
              <a:t>6 / 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CE5"/>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Quadtree-ul în aplicație</a:t>
            </a:r>
            <a:endParaRPr lang="en-US" sz="3200" dirty="0"/>
          </a:p>
        </p:txBody>
      </p:sp>
      <p:sp>
        <p:nvSpPr>
          <p:cNvPr id="3" name="Shape 1"/>
          <p:cNvSpPr/>
          <p:nvPr/>
        </p:nvSpPr>
        <p:spPr>
          <a:xfrm>
            <a:off x="822325" y="1520825"/>
            <a:ext cx="6267450" cy="4171950"/>
          </a:xfrm>
          <a:prstGeom prst="roundRect">
            <a:avLst>
              <a:gd name="adj" fmla="val 2207"/>
            </a:avLst>
          </a:prstGeom>
          <a:solidFill>
            <a:srgbClr val="E2DFD6"/>
          </a:solidFill>
          <a:ln w="19050">
            <a:solidFill>
              <a:srgbClr val="9AA1AD"/>
            </a:solidFill>
            <a:prstDash val="dash"/>
          </a:ln>
        </p:spPr>
        <p:txBody>
          <a:bodyPr/>
          <a:lstStyle/>
          <a:p>
            <a:endParaRPr lang="en-RO"/>
          </a:p>
        </p:txBody>
      </p:sp>
      <p:pic>
        <p:nvPicPr>
          <p:cNvPr id="4" name="Image 0" descr="Play"/>
          <p:cNvPicPr>
            <a:picLocks noChangeAspect="1"/>
          </p:cNvPicPr>
          <p:nvPr/>
        </p:nvPicPr>
        <p:blipFill>
          <a:blip r:embed="rId5"/>
          <a:srcRect/>
          <a:stretch/>
        </p:blipFill>
        <p:spPr>
          <a:xfrm>
            <a:off x="3727450" y="3203575"/>
            <a:ext cx="457200" cy="457200"/>
          </a:xfrm>
          <a:prstGeom prst="rect">
            <a:avLst/>
          </a:prstGeom>
        </p:spPr>
      </p:pic>
      <p:sp>
        <p:nvSpPr>
          <p:cNvPr id="5" name="Text 2"/>
          <p:cNvSpPr/>
          <p:nvPr/>
        </p:nvSpPr>
        <p:spPr>
          <a:xfrm>
            <a:off x="1771263" y="3762375"/>
            <a:ext cx="4369475" cy="27305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4A5568"/>
                </a:solidFill>
                <a:latin typeface="IBM Plex Sans" pitchFamily="34" charset="0"/>
                <a:ea typeface="IBM Plex Sans" pitchFamily="34" charset="-122"/>
                <a:cs typeface="IBM Plex Sans" pitchFamily="34" charset="-120"/>
              </a:rPr>
              <a:t>Loc pentru video: animația împărțirii quadtree</a:t>
            </a:r>
            <a:endParaRPr lang="en-US" sz="1400" dirty="0"/>
          </a:p>
        </p:txBody>
      </p:sp>
      <p:sp>
        <p:nvSpPr>
          <p:cNvPr id="6" name="Text 3"/>
          <p:cNvSpPr/>
          <p:nvPr/>
        </p:nvSpPr>
        <p:spPr>
          <a:xfrm>
            <a:off x="7505700" y="1898650"/>
            <a:ext cx="3989705"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2F6FB5"/>
                </a:solidFill>
                <a:latin typeface="Space Grotesk" pitchFamily="34" charset="0"/>
                <a:ea typeface="Space Grotesk" pitchFamily="34" charset="-122"/>
                <a:cs typeface="Space Grotesk" pitchFamily="34" charset="-120"/>
              </a:rPr>
              <a:t>1 210</a:t>
            </a:r>
            <a:endParaRPr lang="en-US" sz="3200" dirty="0"/>
          </a:p>
        </p:txBody>
      </p:sp>
      <p:sp>
        <p:nvSpPr>
          <p:cNvPr id="7" name="Text 4"/>
          <p:cNvSpPr/>
          <p:nvPr/>
        </p:nvSpPr>
        <p:spPr>
          <a:xfrm>
            <a:off x="7505700" y="2393950"/>
            <a:ext cx="3989705" cy="4826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celule pe aceeași hartă: de 8 ori mai puține decât grila</a:t>
            </a:r>
            <a:endParaRPr lang="en-US" sz="1300" dirty="0"/>
          </a:p>
        </p:txBody>
      </p:sp>
      <p:sp>
        <p:nvSpPr>
          <p:cNvPr id="8" name="Text 5"/>
          <p:cNvSpPr/>
          <p:nvPr/>
        </p:nvSpPr>
        <p:spPr>
          <a:xfrm>
            <a:off x="7505700" y="3130550"/>
            <a:ext cx="3989705"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2F6FB5"/>
                </a:solidFill>
                <a:latin typeface="Space Grotesk" pitchFamily="34" charset="0"/>
                <a:ea typeface="Space Grotesk" pitchFamily="34" charset="-122"/>
                <a:cs typeface="Space Grotesk" pitchFamily="34" charset="-120"/>
              </a:rPr>
              <a:t>0,57 ms</a:t>
            </a:r>
            <a:endParaRPr lang="en-US" sz="3200" dirty="0"/>
          </a:p>
        </p:txBody>
      </p:sp>
      <p:sp>
        <p:nvSpPr>
          <p:cNvPr id="9" name="Text 6"/>
          <p:cNvSpPr/>
          <p:nvPr/>
        </p:nvSpPr>
        <p:spPr>
          <a:xfrm>
            <a:off x="7505700" y="3625850"/>
            <a:ext cx="3989705" cy="4826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căutarea A* (333 celule vizitate), față de 25,8 ms pe grilă</a:t>
            </a:r>
            <a:endParaRPr lang="en-US" sz="1300" dirty="0"/>
          </a:p>
        </p:txBody>
      </p:sp>
      <p:sp>
        <p:nvSpPr>
          <p:cNvPr id="10" name="Text 7"/>
          <p:cNvSpPr/>
          <p:nvPr/>
        </p:nvSpPr>
        <p:spPr>
          <a:xfrm>
            <a:off x="7505700" y="4362450"/>
            <a:ext cx="3989705"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2F6FB5"/>
                </a:solidFill>
                <a:latin typeface="Space Grotesk" pitchFamily="34" charset="0"/>
                <a:ea typeface="Space Grotesk" pitchFamily="34" charset="-122"/>
                <a:cs typeface="Space Grotesk" pitchFamily="34" charset="-120"/>
              </a:rPr>
              <a:t>178,8 cm</a:t>
            </a:r>
            <a:endParaRPr lang="en-US" sz="3200" dirty="0"/>
          </a:p>
        </p:txBody>
      </p:sp>
      <p:sp>
        <p:nvSpPr>
          <p:cNvPr id="11" name="Text 8"/>
          <p:cNvSpPr/>
          <p:nvPr/>
        </p:nvSpPr>
        <p:spPr>
          <a:xfrm>
            <a:off x="7505700" y="4857750"/>
            <a:ext cx="3989705" cy="4826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drumul netezit; brut are 194,9 cm, din cauza centrelor celulelor mari</a:t>
            </a:r>
            <a:endParaRPr lang="en-US" sz="1300" dirty="0"/>
          </a:p>
        </p:txBody>
      </p:sp>
      <p:sp>
        <p:nvSpPr>
          <p:cNvPr id="12" name="Text 9"/>
          <p:cNvSpPr/>
          <p:nvPr/>
        </p:nvSpPr>
        <p:spPr>
          <a:xfrm>
            <a:off x="812800" y="6242050"/>
            <a:ext cx="5514856"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IBM Plex Sans" pitchFamily="34" charset="0"/>
                <a:ea typeface="IBM Plex Sans" pitchFamily="34" charset="-122"/>
                <a:cs typeface="IBM Plex Sans" pitchFamily="34" charset="-120"/>
              </a:rPr>
              <a:t>Planificarea drumului · latura minimă 1 cm, adâncime 7, A*, 8 vecini</a:t>
            </a:r>
            <a:endParaRPr lang="en-US" sz="1200" dirty="0"/>
          </a:p>
        </p:txBody>
      </p:sp>
      <p:sp>
        <p:nvSpPr>
          <p:cNvPr id="13" name="Text 10"/>
          <p:cNvSpPr/>
          <p:nvPr/>
        </p:nvSpPr>
        <p:spPr>
          <a:xfrm>
            <a:off x="11003320" y="6242050"/>
            <a:ext cx="37588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80"/>
                </a:solidFill>
                <a:latin typeface="IBM Plex Sans" pitchFamily="34" charset="0"/>
                <a:ea typeface="IBM Plex Sans" pitchFamily="34" charset="-122"/>
                <a:cs typeface="IBM Plex Sans" pitchFamily="34" charset="-120"/>
              </a:rPr>
              <a:t>7 / 8</a:t>
            </a:r>
            <a:endParaRPr lang="en-US" sz="1200" dirty="0"/>
          </a:p>
        </p:txBody>
      </p:sp>
      <p:pic>
        <p:nvPicPr>
          <p:cNvPr id="14" name="Screen Recording 2026-10-28 at 19.47.29.mov">
            <a:hlinkClick r:id="" action="ppaction://media"/>
            <a:extLst>
              <a:ext uri="{FF2B5EF4-FFF2-40B4-BE49-F238E27FC236}">
                <a16:creationId xmlns:a16="http://schemas.microsoft.com/office/drawing/2014/main" id="{15D812B4-A348-FA17-E3D6-80E48566D62C}"/>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09937" y="1520825"/>
            <a:ext cx="6745442" cy="42207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813"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Concluzii și comparația algoritmilor</a:t>
            </a:r>
            <a:endParaRPr lang="en-US" sz="3200" dirty="0"/>
          </a:p>
        </p:txBody>
      </p:sp>
      <p:sp>
        <p:nvSpPr>
          <p:cNvPr id="6" name="Shape 3"/>
          <p:cNvSpPr/>
          <p:nvPr/>
        </p:nvSpPr>
        <p:spPr>
          <a:xfrm>
            <a:off x="676483" y="3987800"/>
            <a:ext cx="0" cy="787400"/>
          </a:xfrm>
          <a:prstGeom prst="line">
            <a:avLst/>
          </a:prstGeom>
          <a:noFill/>
          <a:ln w="38100">
            <a:solidFill>
              <a:srgbClr val="2F6FB5"/>
            </a:solidFill>
            <a:prstDash val="solid"/>
          </a:ln>
        </p:spPr>
        <p:txBody>
          <a:bodyPr/>
          <a:lstStyle/>
          <a:p>
            <a:endParaRPr lang="en-RO"/>
          </a:p>
        </p:txBody>
      </p:sp>
      <p:sp>
        <p:nvSpPr>
          <p:cNvPr id="7" name="Text 4"/>
          <p:cNvSpPr/>
          <p:nvPr/>
        </p:nvSpPr>
        <p:spPr>
          <a:xfrm>
            <a:off x="847933" y="4013200"/>
            <a:ext cx="4382135"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A*: cel mai bun compromis</a:t>
            </a:r>
            <a:endParaRPr lang="en-US" sz="1600" dirty="0"/>
          </a:p>
        </p:txBody>
      </p:sp>
      <p:sp>
        <p:nvSpPr>
          <p:cNvPr id="8" name="Text 5"/>
          <p:cNvSpPr/>
          <p:nvPr/>
        </p:nvSpPr>
        <p:spPr>
          <a:xfrm>
            <a:off x="847933" y="4292600"/>
            <a:ext cx="4382135" cy="4826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Drum optim, cu mult mai puține celule vizitate decât Dijkstra sau BFS.</a:t>
            </a:r>
            <a:endParaRPr lang="en-US" sz="1300" dirty="0"/>
          </a:p>
        </p:txBody>
      </p:sp>
      <p:sp>
        <p:nvSpPr>
          <p:cNvPr id="9" name="Shape 6"/>
          <p:cNvSpPr/>
          <p:nvPr/>
        </p:nvSpPr>
        <p:spPr>
          <a:xfrm>
            <a:off x="676483" y="4978400"/>
            <a:ext cx="0" cy="787400"/>
          </a:xfrm>
          <a:prstGeom prst="line">
            <a:avLst/>
          </a:prstGeom>
          <a:noFill/>
          <a:ln w="38100">
            <a:solidFill>
              <a:srgbClr val="C2410C"/>
            </a:solidFill>
            <a:prstDash val="solid"/>
          </a:ln>
        </p:spPr>
        <p:txBody>
          <a:bodyPr/>
          <a:lstStyle/>
          <a:p>
            <a:endParaRPr lang="en-RO"/>
          </a:p>
        </p:txBody>
      </p:sp>
      <p:sp>
        <p:nvSpPr>
          <p:cNvPr id="10" name="Text 7"/>
          <p:cNvSpPr/>
          <p:nvPr/>
        </p:nvSpPr>
        <p:spPr>
          <a:xfrm>
            <a:off x="847933" y="5003800"/>
            <a:ext cx="4382135"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Greedy: rapid, dar riscant</a:t>
            </a:r>
            <a:endParaRPr lang="en-US" sz="1600" dirty="0"/>
          </a:p>
        </p:txBody>
      </p:sp>
      <p:sp>
        <p:nvSpPr>
          <p:cNvPr id="11" name="Text 8"/>
          <p:cNvSpPr/>
          <p:nvPr/>
        </p:nvSpPr>
        <p:spPr>
          <a:xfrm>
            <a:off x="847933" y="5283200"/>
            <a:ext cx="4382135" cy="4826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Cel mai rapid, însă drumul poate fi mult mai lung (213,6 față de 180,3 cm).</a:t>
            </a:r>
            <a:endParaRPr lang="en-US" sz="1300" dirty="0"/>
          </a:p>
        </p:txBody>
      </p:sp>
      <p:sp>
        <p:nvSpPr>
          <p:cNvPr id="12" name="Shape 9"/>
          <p:cNvSpPr/>
          <p:nvPr/>
        </p:nvSpPr>
        <p:spPr>
          <a:xfrm>
            <a:off x="6961932" y="4016375"/>
            <a:ext cx="0" cy="787400"/>
          </a:xfrm>
          <a:prstGeom prst="line">
            <a:avLst/>
          </a:prstGeom>
          <a:noFill/>
          <a:ln w="38100">
            <a:solidFill>
              <a:srgbClr val="2F6FB5"/>
            </a:solidFill>
            <a:prstDash val="solid"/>
          </a:ln>
        </p:spPr>
        <p:txBody>
          <a:bodyPr/>
          <a:lstStyle/>
          <a:p>
            <a:endParaRPr lang="en-RO"/>
          </a:p>
        </p:txBody>
      </p:sp>
      <p:sp>
        <p:nvSpPr>
          <p:cNvPr id="13" name="Text 10"/>
          <p:cNvSpPr/>
          <p:nvPr/>
        </p:nvSpPr>
        <p:spPr>
          <a:xfrm>
            <a:off x="7133382" y="4041775"/>
            <a:ext cx="4382135"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Quadtree: puține celule</a:t>
            </a:r>
            <a:endParaRPr lang="en-US" sz="1600" dirty="0"/>
          </a:p>
        </p:txBody>
      </p:sp>
      <p:sp>
        <p:nvSpPr>
          <p:cNvPr id="14" name="Text 11"/>
          <p:cNvSpPr/>
          <p:nvPr/>
        </p:nvSpPr>
        <p:spPr>
          <a:xfrm>
            <a:off x="7133382" y="4321175"/>
            <a:ext cx="4382135" cy="4826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De 8 ori mai puține celule și căutare mult mai rapidă; drumul brut e mai lung.</a:t>
            </a:r>
            <a:endParaRPr lang="en-US" sz="1300" dirty="0"/>
          </a:p>
        </p:txBody>
      </p:sp>
      <p:sp>
        <p:nvSpPr>
          <p:cNvPr id="15" name="Shape 12"/>
          <p:cNvSpPr/>
          <p:nvPr/>
        </p:nvSpPr>
        <p:spPr>
          <a:xfrm>
            <a:off x="6961932" y="4981575"/>
            <a:ext cx="0" cy="787400"/>
          </a:xfrm>
          <a:prstGeom prst="line">
            <a:avLst/>
          </a:prstGeom>
          <a:noFill/>
          <a:ln w="38100">
            <a:solidFill>
              <a:srgbClr val="2F6FB5"/>
            </a:solidFill>
            <a:prstDash val="solid"/>
          </a:ln>
        </p:spPr>
        <p:txBody>
          <a:bodyPr/>
          <a:lstStyle/>
          <a:p>
            <a:endParaRPr lang="en-RO"/>
          </a:p>
        </p:txBody>
      </p:sp>
      <p:sp>
        <p:nvSpPr>
          <p:cNvPr id="16" name="Text 13"/>
          <p:cNvSpPr/>
          <p:nvPr/>
        </p:nvSpPr>
        <p:spPr>
          <a:xfrm>
            <a:off x="7133382" y="5006975"/>
            <a:ext cx="4382135"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Netezirea e esențială</a:t>
            </a:r>
            <a:endParaRPr lang="en-US" sz="1600" dirty="0"/>
          </a:p>
        </p:txBody>
      </p:sp>
      <p:sp>
        <p:nvSpPr>
          <p:cNvPr id="17" name="Text 14"/>
          <p:cNvSpPr/>
          <p:nvPr/>
        </p:nvSpPr>
        <p:spPr>
          <a:xfrm>
            <a:off x="7133382" y="5286375"/>
            <a:ext cx="4382135" cy="4826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IBM Plex Sans" pitchFamily="34" charset="0"/>
                <a:ea typeface="IBM Plex Sans" pitchFamily="34" charset="-122"/>
                <a:cs typeface="IBM Plex Sans" pitchFamily="34" charset="-120"/>
              </a:rPr>
              <a:t>Drum mai scurt și mai puține viraje pe ambele descompuneri, deci erori mai mici pentru robot.</a:t>
            </a:r>
            <a:endParaRPr lang="en-US" sz="1300" dirty="0"/>
          </a:p>
        </p:txBody>
      </p:sp>
      <p:sp>
        <p:nvSpPr>
          <p:cNvPr id="18" name="Text 15"/>
          <p:cNvSpPr/>
          <p:nvPr/>
        </p:nvSpPr>
        <p:spPr>
          <a:xfrm>
            <a:off x="812800" y="6242050"/>
            <a:ext cx="283749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A7180"/>
                </a:solidFill>
                <a:latin typeface="IBM Plex Sans" pitchFamily="34" charset="0"/>
                <a:ea typeface="IBM Plex Sans" pitchFamily="34" charset="-122"/>
                <a:cs typeface="IBM Plex Sans" pitchFamily="34" charset="-120"/>
              </a:rPr>
              <a:t>Planificarea drumului · harta demo</a:t>
            </a:r>
            <a:endParaRPr lang="en-US" sz="1200" dirty="0"/>
          </a:p>
        </p:txBody>
      </p:sp>
      <p:sp>
        <p:nvSpPr>
          <p:cNvPr id="19" name="Text 16"/>
          <p:cNvSpPr/>
          <p:nvPr/>
        </p:nvSpPr>
        <p:spPr>
          <a:xfrm>
            <a:off x="11003320" y="6242050"/>
            <a:ext cx="375880" cy="23495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A7180"/>
                </a:solidFill>
                <a:latin typeface="IBM Plex Sans" pitchFamily="34" charset="0"/>
                <a:ea typeface="IBM Plex Sans" pitchFamily="34" charset="-122"/>
                <a:cs typeface="IBM Plex Sans" pitchFamily="34" charset="-120"/>
              </a:rPr>
              <a:t>8 / 8</a:t>
            </a:r>
            <a:endParaRPr lang="en-US" sz="1200" dirty="0"/>
          </a:p>
        </p:txBody>
      </p:sp>
      <p:pic>
        <p:nvPicPr>
          <p:cNvPr id="20" name="Picture 19">
            <a:extLst>
              <a:ext uri="{FF2B5EF4-FFF2-40B4-BE49-F238E27FC236}">
                <a16:creationId xmlns:a16="http://schemas.microsoft.com/office/drawing/2014/main" id="{0517D178-6A19-C2B2-208D-1ABFE1703113}"/>
              </a:ext>
            </a:extLst>
          </p:cNvPr>
          <p:cNvPicPr>
            <a:picLocks noChangeAspect="1"/>
          </p:cNvPicPr>
          <p:nvPr/>
        </p:nvPicPr>
        <p:blipFill>
          <a:blip r:embed="rId3"/>
          <a:stretch>
            <a:fillRect/>
          </a:stretch>
        </p:blipFill>
        <p:spPr>
          <a:xfrm>
            <a:off x="1872040" y="1354541"/>
            <a:ext cx="8447919" cy="2598334"/>
          </a:xfrm>
          <a:prstGeom prst="rect">
            <a:avLst/>
          </a:prstGeom>
        </p:spPr>
      </p:pic>
    </p:spTree>
  </p:cSld>
  <p:clrMapOvr>
    <a:masterClrMapping/>
  </p:clrMapOvr>
</p:sld>
</file>

<file path=ppt/theme/theme1.xml><?xml version="1.0" encoding="utf-8"?>
<a:theme xmlns:a="http://schemas.openxmlformats.org/drawingml/2006/main" name="Planificarea drumului – prezentare">
  <a:themeElements>
    <a:clrScheme name="Planificarea drumului – prezentare">
      <a:dk1>
        <a:srgbClr val="4A5568"/>
      </a:dk1>
      <a:lt1>
        <a:srgbClr val="F7F6F2"/>
      </a:lt1>
      <a:dk2>
        <a:srgbClr val="757D8B"/>
      </a:dk2>
      <a:lt2>
        <a:srgbClr val="E6E6E4"/>
      </a:lt2>
      <a:accent1>
        <a:srgbClr val="14213D"/>
      </a:accent1>
      <a:accent2>
        <a:srgbClr val="2F6FB5"/>
      </a:accent2>
      <a:accent3>
        <a:srgbClr val="C2410C"/>
      </a:accent3>
      <a:accent4>
        <a:srgbClr val="F28C4B"/>
      </a:accent4>
      <a:accent5>
        <a:srgbClr val="1F6F43"/>
      </a:accent5>
      <a:accent6>
        <a:srgbClr val="1D2D50"/>
      </a:accent6>
      <a:hlink>
        <a:srgbClr val="0563C1"/>
      </a:hlink>
      <a:folHlink>
        <a:srgbClr val="954F72"/>
      </a:folHlink>
    </a:clrScheme>
    <a:fontScheme name="Planificarea drumului – prezentar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1575</Words>
  <Application>Microsoft Macintosh PowerPoint</Application>
  <PresentationFormat>Widescreen</PresentationFormat>
  <Paragraphs>117</Paragraphs>
  <Slides>8</Slides>
  <Notes>8</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IBM Plex Sans</vt:lpstr>
      <vt:lpstr>Space Grotesk</vt:lpstr>
      <vt:lpstr>Planificarea drumului – prezentare</vt:lpstr>
      <vt:lpstr>Planificarea drumului</vt:lpstr>
      <vt:lpstr>Algoritmii de căutare</vt:lpstr>
      <vt:lpstr>Aplicația</vt:lpstr>
      <vt:lpstr>Grila uniformă</vt:lpstr>
      <vt:lpstr>Grila uniformă în aplicație</vt:lpstr>
      <vt:lpstr>Quadtree</vt:lpstr>
      <vt:lpstr>Quadtree-ul în aplicație</vt:lpstr>
      <vt:lpstr>Concluzii și comparația algoritmilor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Planificarea drumului – prezentare</dc:title>
  <dc:subject/>
  <dc:creator/>
  <cp:lastModifiedBy>Radu-Andrei Călin</cp:lastModifiedBy>
  <cp:revision>2</cp:revision>
  <dcterms:created xsi:type="dcterms:W3CDTF">2026-10-28T17:43:42Z</dcterms:created>
  <dcterms:modified xsi:type="dcterms:W3CDTF">2026-10-28T18:01:06Z</dcterms:modified>
</cp:coreProperties>
</file>